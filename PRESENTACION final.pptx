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823960" y="0"/>
            <a:ext cx="3364992" cy="6858000"/>
          </a:xfrm>
          <a:prstGeom prst="rect">
            <a:avLst/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1965960" cy="73152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64040" y="1143000"/>
            <a:ext cx="1325880" cy="73152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91440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0D3C8"/>
                </a:solidFill>
                <a:latin typeface="Aptos"/>
              </a:rPr>
              <a:t>LABORATORIO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72768"/>
            <a:ext cx="749807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5F8FC"/>
                </a:solidFill>
                <a:latin typeface="Aptos"/>
              </a:rPr>
              <a:t>SQL Server</a:t>
            </a:r>
            <a:br/>
            <a:r>
              <a:t>+ Git/GitHub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7223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0AFC3"/>
                </a:solidFill>
                <a:latin typeface="Aptos"/>
              </a:rPr>
              <a:t>Creación, modificación y gestión de una base de datos</a:t>
            </a:r>
            <a:br/>
            <a:r>
              <a:t>académica con control de versiones.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617720"/>
            <a:ext cx="7086600" cy="18288"/>
          </a:xfrm>
          <a:prstGeom prst="rect">
            <a:avLst/>
          </a:prstGeom>
          <a:solidFill>
            <a:srgbClr val="324861"/>
          </a:solidFill>
          <a:ln>
            <a:solidFill>
              <a:srgbClr val="3248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92575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ES" sz="1400" b="1" dirty="0">
                <a:solidFill>
                  <a:srgbClr val="F5F8FC"/>
                </a:solidFill>
                <a:latin typeface="Aptos"/>
              </a:rPr>
              <a:t>Diego Lionel Pérez Saavedra</a:t>
            </a:r>
            <a:endParaRPr sz="1400" b="1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5321808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A0AFC3"/>
                </a:solidFill>
                <a:latin typeface="Aptos"/>
              </a:rPr>
              <a:t>Código: </a:t>
            </a:r>
            <a:r>
              <a:rPr lang="es-ES" sz="1150" b="0" dirty="0">
                <a:solidFill>
                  <a:srgbClr val="A0AFC3"/>
                </a:solidFill>
                <a:latin typeface="Aptos"/>
              </a:rPr>
              <a:t>60821425</a:t>
            </a:r>
            <a:r>
              <a:rPr sz="1150" b="0" dirty="0">
                <a:solidFill>
                  <a:srgbClr val="A0AFC3"/>
                </a:solidFill>
                <a:latin typeface="Aptos"/>
              </a:rPr>
              <a:t>    •    26/09/2026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828800"/>
            <a:ext cx="1965960" cy="196596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45447" y="2481453"/>
            <a:ext cx="1417320" cy="984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s-ES" sz="2900" b="1" dirty="0">
                <a:solidFill>
                  <a:srgbClr val="40D3C8"/>
                </a:solidFill>
                <a:latin typeface="Aptos"/>
              </a:rPr>
              <a:t>Base de Datos</a:t>
            </a:r>
            <a:endParaRPr sz="2900" b="1" dirty="0">
              <a:solidFill>
                <a:srgbClr val="40D3C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35440" y="4754880"/>
            <a:ext cx="2377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A0AFC3"/>
                </a:solidFill>
                <a:latin typeface="Aptos"/>
              </a:rPr>
              <a:t>UNIVERSIDAD NACIONAL DE SAN MARTIN</a:t>
            </a:r>
            <a:br/>
            <a:r>
              <a:t>FACULTAD DE INGENIERIA DE SISTEMAS E INFORMATICA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01  |  Base de datos y tablas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Estructura principal del sistema académico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F5F8FC"/>
                </a:solidFill>
                <a:latin typeface="Aptos"/>
              </a:rPr>
              <a:t>•  Se creó una base de datos académica en SQL Server.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5F8FC"/>
                </a:solidFill>
                <a:latin typeface="Aptos"/>
              </a:rPr>
              <a:t>•  Tablas principales: ESTUDIANTE, DOCENTE y CURSO.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F5F8FC"/>
                </a:solidFill>
                <a:latin typeface="Aptos"/>
              </a:rPr>
              <a:t>•  Cada tabla utiliza una clave primaria autoincrementable.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2057400"/>
            <a:ext cx="5532120" cy="288036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2057400"/>
            <a:ext cx="553212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221992"/>
            <a:ext cx="5074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074920"/>
            <a:ext cx="5029200" cy="86868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508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CLAVE PRINCIPAL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518464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PK  •  ID autoincrementable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94E4CCAF-09CE-43FF-937E-4D81B5DB4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799983"/>
            <a:ext cx="5532120" cy="12384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B901B28-C92B-4440-A7DC-DC5F62D8A2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740"/>
          <a:stretch/>
        </p:blipFill>
        <p:spPr>
          <a:xfrm>
            <a:off x="5989320" y="2112264"/>
            <a:ext cx="5532120" cy="3248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02  |  IDENTITY(1,1) y ALTER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Automatización de IDs y ampliación de la estructura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IDENTITY(1,1) inicia en 1 y aumenta automáticamente de uno en uno.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No es necesario escribir manualmente el ID al insertar registros.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ALTER TABLE permitió agregar campos nuevos sin recrear las tablas.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55030" y="1128600"/>
            <a:ext cx="5532120" cy="137160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700060"/>
            <a:ext cx="553212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378116"/>
            <a:ext cx="5074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92708"/>
            <a:ext cx="5074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DCE7F1"/>
                </a:solidFill>
                <a:latin typeface="Consolas"/>
              </a:rPr>
              <a:t>id_</a:t>
            </a:r>
            <a:r>
              <a:rPr lang="es-ES" sz="1300" dirty="0">
                <a:solidFill>
                  <a:srgbClr val="DCE7F1"/>
                </a:solidFill>
                <a:latin typeface="Consolas"/>
              </a:rPr>
              <a:t>curso</a:t>
            </a:r>
            <a:r>
              <a:rPr sz="1300" b="0" dirty="0">
                <a:solidFill>
                  <a:srgbClr val="DCE7F1"/>
                </a:solidFill>
                <a:latin typeface="Consolas"/>
              </a:rPr>
              <a:t> INT IDENTITY(1,1) PRIMARY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703320"/>
            <a:ext cx="5532120" cy="1554480"/>
          </a:xfrm>
          <a:prstGeom prst="roundRect">
            <a:avLst>
              <a:gd name="adj" fmla="val 8000"/>
            </a:avLst>
          </a:prstGeom>
          <a:solidFill>
            <a:srgbClr val="1C2E46"/>
          </a:solidFill>
          <a:ln>
            <a:solidFill>
              <a:srgbClr val="1C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3977639"/>
            <a:ext cx="4983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0AFC3"/>
                </a:solidFill>
                <a:latin typeface="Aptos"/>
              </a:rPr>
              <a:t>CAPTURA / DIAGRAMA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26280"/>
            <a:ext cx="4983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8FC"/>
                </a:solidFill>
                <a:latin typeface="Aptos"/>
              </a:rPr>
              <a:t>AQUÍ COLOCAS TU IMAGEN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E9574B9-4915-49C4-BE35-24CD904EDC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" t="295" r="-2647" b="295"/>
          <a:stretch/>
        </p:blipFill>
        <p:spPr>
          <a:xfrm>
            <a:off x="6023610" y="2580057"/>
            <a:ext cx="5689854" cy="38010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03  |  ALTER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Control del ciclo de vida de cada registro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64008" cy="621792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16712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creado_el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1671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FC3"/>
                </a:solidFill>
                <a:latin typeface="Aptos"/>
              </a:rPr>
              <a:t>Fecha y hora de creación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62072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862072"/>
            <a:ext cx="64008" cy="621792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971800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modificado_el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9718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FC3"/>
                </a:solidFill>
                <a:latin typeface="Aptos"/>
              </a:rPr>
              <a:t>Última modificación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66744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666744"/>
            <a:ext cx="64008" cy="621792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77647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borrado_el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7764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FC3"/>
                </a:solidFill>
                <a:latin typeface="Aptos"/>
              </a:rPr>
              <a:t>Momento del borrado lógico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71416"/>
            <a:ext cx="4800600" cy="6217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471416"/>
            <a:ext cx="64008" cy="621792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8114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estado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581144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0AFC3"/>
                </a:solidFill>
                <a:latin typeface="Aptos"/>
              </a:rPr>
              <a:t>1 = activo  •  0 = inactivo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057400"/>
            <a:ext cx="5669280" cy="233172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06440" y="2057400"/>
            <a:ext cx="566928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2221992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560320"/>
            <a:ext cx="521208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7F1"/>
                </a:solidFill>
                <a:latin typeface="Consolas"/>
              </a:rPr>
              <a:t>creado_el DATETIME2 DEFAULT SYSDATETIME()</a:t>
            </a:r>
            <a:br/>
            <a:r>
              <a:t>modificado_el DATETIME2 NULL</a:t>
            </a:r>
            <a:br/>
            <a:r>
              <a:t>borrado_el DATETIME2 NULL</a:t>
            </a:r>
            <a:br/>
            <a:r>
              <a:t>estado BIT DEFAULT 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17820"/>
            <a:ext cx="5669280" cy="96012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TRAZABILIDAD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63824" y="5618988"/>
            <a:ext cx="3703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 err="1">
                <a:solidFill>
                  <a:srgbClr val="F5F8FC"/>
                </a:solidFill>
                <a:latin typeface="Aptos"/>
              </a:rPr>
              <a:t>Estos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campos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permiten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saber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cuándo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se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creó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,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modificó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o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desactivó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 un </a:t>
            </a:r>
            <a:r>
              <a:rPr sz="1250" b="0" dirty="0" err="1">
                <a:solidFill>
                  <a:srgbClr val="F5F8FC"/>
                </a:solidFill>
                <a:latin typeface="Aptos"/>
              </a:rPr>
              <a:t>registro</a:t>
            </a:r>
            <a:r>
              <a:rPr sz="1250" b="0" dirty="0">
                <a:solidFill>
                  <a:srgbClr val="F5F8FC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04  |  INSERT INTO y verificación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Carga inicial de estudiantes, docentes y cursos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0"/>
            <a:ext cx="1600200" cy="10789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0D3C8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334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0AFC3"/>
                </a:solidFill>
                <a:latin typeface="Aptos"/>
              </a:rPr>
              <a:t>ESTUDIANTES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011680"/>
            <a:ext cx="1600200" cy="10789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32888" y="221284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0D3C8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6334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0AFC3"/>
                </a:solidFill>
                <a:latin typeface="Aptos"/>
              </a:rPr>
              <a:t>DOCENTES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011680"/>
            <a:ext cx="1600200" cy="10789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61688" y="2212848"/>
            <a:ext cx="1371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40D3C8"/>
                </a:solidFill>
                <a:latin typeface="Apto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63347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0AFC3"/>
                </a:solidFill>
                <a:latin typeface="Aptos"/>
              </a:rPr>
              <a:t>CURSOS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7" y="1641348"/>
            <a:ext cx="5349240" cy="1078992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7427" y="1901380"/>
            <a:ext cx="1234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40D3C8"/>
                </a:solidFill>
                <a:latin typeface="Aptos"/>
              </a:rPr>
              <a:t>VERIFICACIÓN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9982" y="1814512"/>
            <a:ext cx="3566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Aptos"/>
              </a:rPr>
              <a:t>Los SELECT permiten comprobar que los datos quedaron registrados correctamente.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429000"/>
            <a:ext cx="5577840" cy="214884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429000"/>
            <a:ext cx="557784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3593592"/>
            <a:ext cx="5120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31920"/>
            <a:ext cx="5120640" cy="1490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7F1"/>
                </a:solidFill>
                <a:latin typeface="Consolas"/>
              </a:rPr>
              <a:t>INSERT INTO ESTUDIANTE (...)</a:t>
            </a:r>
            <a:br/>
            <a:r>
              <a:t>VALUES (...);</a:t>
            </a:r>
            <a:br/>
            <a:br/>
            <a:r>
              <a:t>SELECT * FROM ESTUDIANTE;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3429000"/>
            <a:ext cx="5074920" cy="2148840"/>
          </a:xfrm>
          <a:prstGeom prst="roundRect">
            <a:avLst>
              <a:gd name="adj" fmla="val 8000"/>
            </a:avLst>
          </a:prstGeom>
          <a:solidFill>
            <a:srgbClr val="1C2E46"/>
          </a:solidFill>
          <a:ln>
            <a:solidFill>
              <a:srgbClr val="1C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20840" y="3703320"/>
            <a:ext cx="4480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0AFC3"/>
                </a:solidFill>
                <a:latin typeface="Aptos"/>
              </a:rPr>
              <a:t>CAPTURA DE RESULTADOS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37083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5F8FC"/>
                </a:solidFill>
                <a:latin typeface="Aptos"/>
              </a:rPr>
              <a:t>AQUÍ COLOCAS TU IMAGEN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E9F5F962-15EC-4EE1-B9DD-A8C039407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71216"/>
            <a:ext cx="5074920" cy="3742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05  | 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Modificación controlada de información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166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Se actualizó el correo de un estudiante.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Se cambió la especialidad de un docente.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Se modificaron las horas semanales de un curso.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En cada cambio se registró modificado_el = SYSDATETIME().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965960"/>
            <a:ext cx="5532120" cy="233172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89320" y="1965960"/>
            <a:ext cx="553212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130552"/>
            <a:ext cx="5074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68880"/>
            <a:ext cx="5074920" cy="16733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7F1"/>
                </a:solidFill>
                <a:latin typeface="Consolas"/>
              </a:rPr>
              <a:t>UPDATE ESTUDIANTE</a:t>
            </a:r>
            <a:br/>
            <a:r>
              <a:t>SET correo = 'ana.perez.nuevo@correo.com',</a:t>
            </a:r>
            <a:br/>
            <a:r>
              <a:t>    modificado_el = SYSDATETIME()</a:t>
            </a:r>
            <a:br/>
            <a:r>
              <a:t>WHERE id_estudiante = 1;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9B1C684-1547-4AD0-94F8-7C544C560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49" y="3642511"/>
            <a:ext cx="3295269" cy="29045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06  |  Borrado lógico vs. borrado físico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Dos formas distintas de retirar información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5074920" cy="73152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19" y="24231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40D3C8"/>
                </a:solidFill>
                <a:latin typeface="Aptos"/>
              </a:rPr>
              <a:t>BORRADO 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3063240"/>
            <a:ext cx="4343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UPDATE mantiene el registro, pero cambia estado = 0 y registra borrado_el. La información se conserva.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4251960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UPDATE / estado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57400"/>
            <a:ext cx="5074920" cy="274320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057400"/>
            <a:ext cx="5074920" cy="73152"/>
          </a:xfrm>
          <a:prstGeom prst="rect">
            <a:avLst/>
          </a:prstGeom>
          <a:solidFill>
            <a:srgbClr val="FFB04B"/>
          </a:solidFill>
          <a:ln>
            <a:solidFill>
              <a:srgbClr val="FFB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42316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B04B"/>
                </a:solidFill>
                <a:latin typeface="Aptos"/>
              </a:rPr>
              <a:t>BORRADO FÍSICO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4343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DELETE elimina el registro de la tabla. Después del DELETE, el SELECT del ID eliminado no devuelve filas.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51960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DELETE / elimina la fila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8786D2A-536D-4C94-8FC2-427D00A058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494"/>
          <a:stretch/>
        </p:blipFill>
        <p:spPr>
          <a:xfrm>
            <a:off x="703036" y="3805094"/>
            <a:ext cx="3381847" cy="223576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0088FDD-519B-4624-93B1-1773DF590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3836975"/>
            <a:ext cx="4239217" cy="10860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07  |  Git y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Control de versiones y trabajo en una rama personal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El trabajo se realizó en una rama personal, sin modificar directamente main.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Los cambios del SQL, README y evidencias se registraron mediante commits.</a:t>
            </a:r>
          </a:p>
          <a:p>
            <a:pPr>
              <a:spcAft>
                <a:spcPts val="1400"/>
              </a:spcAft>
            </a:pPr>
            <a:r>
              <a:rPr sz="1500">
                <a:solidFill>
                  <a:srgbClr val="F5F8FC"/>
                </a:solidFill>
                <a:latin typeface="Aptos"/>
              </a:rPr>
              <a:t>•  git status confirma que el árbol de trabajo está limpio y sincronizado con origin.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5166360" cy="2103120"/>
          </a:xfrm>
          <a:prstGeom prst="roundRect">
            <a:avLst>
              <a:gd name="adj" fmla="val 8000"/>
            </a:avLst>
          </a:prstGeom>
          <a:solidFill>
            <a:srgbClr val="0A1827"/>
          </a:solidFill>
          <a:ln>
            <a:solidFill>
              <a:srgbClr val="0A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965960"/>
            <a:ext cx="5166360" cy="54864"/>
          </a:xfrm>
          <a:prstGeom prst="rect">
            <a:avLst/>
          </a:prstGeom>
          <a:solidFill>
            <a:srgbClr val="40D3C8"/>
          </a:solidFill>
          <a:ln>
            <a:solidFill>
              <a:srgbClr val="40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130552"/>
            <a:ext cx="4709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D3C8"/>
                </a:solidFill>
                <a:latin typeface="Aptos"/>
              </a:rPr>
              <a:t>SQL / COMANDO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709160" cy="1444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CE7F1"/>
                </a:solidFill>
                <a:latin typeface="Consolas"/>
              </a:rPr>
              <a:t>git status</a:t>
            </a:r>
            <a:br/>
            <a:r>
              <a:t>git log --oneline -3</a:t>
            </a:r>
            <a:br/>
            <a:r>
              <a:t>git push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solidFill>
              <a:srgbClr val="09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F97FF"/>
          </a:solidFill>
          <a:ln>
            <a:solidFill>
              <a:srgbClr val="2F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0AFC3"/>
                </a:solidFill>
                <a:latin typeface="Aptos"/>
              </a:rPr>
              <a:t>LABORATORIO 01   •   SQL SERVER + GIT/GITHUB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2743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40D3C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08  |  Resultado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399032"/>
            <a:ext cx="10698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0AFC3"/>
                </a:solidFill>
                <a:latin typeface="Aptos"/>
              </a:rPr>
              <a:t>Resumen del Laboratorio 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1226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D3C8"/>
                </a:solidFill>
                <a:latin typeface="Aptos"/>
              </a:rPr>
              <a:t>SQL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084831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Aptos"/>
              </a:rPr>
              <a:t>Base de datos y 3 tablas creadas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112264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D3C8"/>
                </a:solidFill>
                <a:latin typeface="Aptos"/>
              </a:rPr>
              <a:t>Auditoría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84831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Aptos"/>
              </a:rPr>
              <a:t>Campos de creación, modificación, borrado y estado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90088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136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D3C8"/>
                </a:solidFill>
                <a:latin typeface="Aptos"/>
              </a:rPr>
              <a:t>Operaciones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1089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Aptos"/>
              </a:rPr>
              <a:t>INSERT, UPDATE, borrado lógico, DELETE y SELECT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90088"/>
            <a:ext cx="5257800" cy="822960"/>
          </a:xfrm>
          <a:prstGeom prst="roundRect">
            <a:avLst>
              <a:gd name="adj" fmla="val 8000"/>
            </a:avLst>
          </a:prstGeom>
          <a:solidFill>
            <a:srgbClr val="15263E"/>
          </a:solidFill>
          <a:ln>
            <a:solidFill>
              <a:srgbClr val="152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136392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0D3C8"/>
                </a:solidFill>
                <a:latin typeface="Aptos"/>
              </a:rPr>
              <a:t>Git/GitHub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08960"/>
            <a:ext cx="3429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5F8FC"/>
                </a:solidFill>
                <a:latin typeface="Aptos"/>
              </a:rPr>
              <a:t>Rama personal, commits y sincronización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D3C8"/>
                </a:solidFill>
                <a:latin typeface="Aptos"/>
              </a:rPr>
              <a:t>CONCLUSIONES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5F8FC"/>
                </a:solidFill>
                <a:latin typeface="Aptos"/>
              </a:rPr>
              <a:t>• IDENTITY(1,1) simplifica la generación de claves primarias.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532120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5F8FC"/>
                </a:solidFill>
                <a:latin typeface="Aptos"/>
              </a:rPr>
              <a:t>• El borrado lógico conserva información y facilita la trazabilidad.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07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5F8FC"/>
                </a:solidFill>
                <a:latin typeface="Aptos"/>
              </a:rPr>
              <a:t>• Los campos de auditoría permiten seguir el ciclo de vida de los registros.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6007608"/>
            <a:ext cx="5166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F5F8FC"/>
                </a:solidFill>
                <a:latin typeface="Aptos"/>
              </a:rPr>
              <a:t>• Git y GitHub permiten registrar y respaldar el avance del laboratorio.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632764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7D291"/>
                </a:solidFill>
                <a:latin typeface="Aptos"/>
              </a:rPr>
              <a:t>LABORATORIO COMPLETADO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725</Words>
  <Application>Microsoft Office PowerPoint</Application>
  <PresentationFormat>Panorámica</PresentationFormat>
  <Paragraphs>107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HP</dc:creator>
  <cp:keywords/>
  <dc:description>generated using python-pptx</dc:description>
  <cp:lastModifiedBy>diegolionelperezsaavedra55@gmail.com</cp:lastModifiedBy>
  <cp:revision>3</cp:revision>
  <dcterms:created xsi:type="dcterms:W3CDTF">2013-01-27T09:14:16Z</dcterms:created>
  <dcterms:modified xsi:type="dcterms:W3CDTF">2026-09-27T04:58:53Z</dcterms:modified>
  <cp:category/>
</cp:coreProperties>
</file>