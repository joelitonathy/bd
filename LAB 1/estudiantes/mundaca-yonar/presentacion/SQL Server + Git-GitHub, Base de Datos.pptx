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0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Roca One Bold" charset="1" panose="00000800000000000000"/>
      <p:regular r:id="rId18"/>
    </p:embeddedFont>
    <p:embeddedFont>
      <p:font typeface="Roca One" charset="1" panose="00000500000000000000"/>
      <p:regular r:id="rId19"/>
    </p:embeddedFont>
    <p:embeddedFont>
      <p:font typeface="Courier New" charset="1" panose="02070309020205020404"/>
      <p:regular r:id="rId28"/>
    </p:embeddedFont>
    <p:embeddedFont>
      <p:font typeface="Courier New Bold" charset="1" panose="020706090202050204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Masters/notesMaster1.xml" Type="http://schemas.openxmlformats.org/officeDocument/2006/relationships/notesMaster"/><Relationship Id="rId21" Target="theme/theme2.xml" Type="http://schemas.openxmlformats.org/officeDocument/2006/relationships/theme"/><Relationship Id="rId22" Target="notesSlides/notesSlide1.xml" Type="http://schemas.openxmlformats.org/officeDocument/2006/relationships/notesSlide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notesSlides/notesSlide6.xml" Type="http://schemas.openxmlformats.org/officeDocument/2006/relationships/notesSlide"/><Relationship Id="rId28" Target="fonts/font28.fntdata" Type="http://schemas.openxmlformats.org/officeDocument/2006/relationships/font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Relationship Id="rId7" Target="../media/image15.png" Type="http://schemas.openxmlformats.org/officeDocument/2006/relationships/image"/><Relationship Id="rId8" Target="../media/image1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5614" y="3235673"/>
            <a:ext cx="7027486" cy="7051327"/>
          </a:xfrm>
          <a:custGeom>
            <a:avLst/>
            <a:gdLst/>
            <a:ahLst/>
            <a:cxnLst/>
            <a:rect r="r" b="b" t="t" l="l"/>
            <a:pathLst>
              <a:path h="7051327" w="7027486">
                <a:moveTo>
                  <a:pt x="7027486" y="0"/>
                </a:moveTo>
                <a:lnTo>
                  <a:pt x="0" y="0"/>
                </a:lnTo>
                <a:lnTo>
                  <a:pt x="0" y="7051327"/>
                </a:lnTo>
                <a:lnTo>
                  <a:pt x="7027486" y="7051327"/>
                </a:lnTo>
                <a:lnTo>
                  <a:pt x="7027486" y="0"/>
                </a:lnTo>
                <a:close/>
              </a:path>
            </a:pathLst>
          </a:custGeom>
          <a:blipFill>
            <a:blip r:embed="rId3"/>
            <a:stretch>
              <a:fillRect l="-88947" t="0" r="-1023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905295"/>
            <a:ext cx="1181277" cy="1360064"/>
          </a:xfrm>
          <a:custGeom>
            <a:avLst/>
            <a:gdLst/>
            <a:ahLst/>
            <a:cxnLst/>
            <a:rect r="r" b="b" t="t" l="l"/>
            <a:pathLst>
              <a:path h="1360064" w="1181277">
                <a:moveTo>
                  <a:pt x="0" y="0"/>
                </a:moveTo>
                <a:lnTo>
                  <a:pt x="1181277" y="0"/>
                </a:lnTo>
                <a:lnTo>
                  <a:pt x="1181277" y="1360064"/>
                </a:lnTo>
                <a:lnTo>
                  <a:pt x="0" y="13600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95492" y="977765"/>
            <a:ext cx="1102467" cy="1102467"/>
          </a:xfrm>
          <a:custGeom>
            <a:avLst/>
            <a:gdLst/>
            <a:ahLst/>
            <a:cxnLst/>
            <a:rect r="r" b="b" t="t" l="l"/>
            <a:pathLst>
              <a:path h="1102467" w="1102467">
                <a:moveTo>
                  <a:pt x="0" y="0"/>
                </a:moveTo>
                <a:lnTo>
                  <a:pt x="1102467" y="0"/>
                </a:lnTo>
                <a:lnTo>
                  <a:pt x="1102467" y="1102467"/>
                </a:lnTo>
                <a:lnTo>
                  <a:pt x="0" y="11024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298788" y="945761"/>
            <a:ext cx="1960512" cy="1297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7"/>
              </a:lnSpc>
            </a:pPr>
            <a:r>
              <a:rPr lang="en-US" b="true" sz="2408">
                <a:solidFill>
                  <a:srgbClr val="000000"/>
                </a:solidFill>
                <a:latin typeface="Roca One Bold"/>
                <a:ea typeface="Roca One Bold"/>
                <a:cs typeface="Roca One Bold"/>
                <a:sym typeface="Roca One Bold"/>
              </a:rPr>
              <a:t>Facultad de Ingeniería de Sistemas e Informática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308122" y="1202199"/>
            <a:ext cx="1988439" cy="973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77"/>
              </a:lnSpc>
            </a:pPr>
            <a:r>
              <a:rPr lang="en-US" b="true" sz="2408">
                <a:solidFill>
                  <a:srgbClr val="000000"/>
                </a:solidFill>
                <a:latin typeface="Roca One Bold"/>
                <a:ea typeface="Roca One Bold"/>
                <a:cs typeface="Roca One Bold"/>
                <a:sym typeface="Roca One Bold"/>
              </a:rPr>
              <a:t>Universidad Nacional de San Martín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309213" y="3426173"/>
            <a:ext cx="9630044" cy="3007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82"/>
              </a:lnSpc>
            </a:pPr>
            <a:r>
              <a:rPr lang="en-US" sz="11699" b="true">
                <a:solidFill>
                  <a:srgbClr val="000000"/>
                </a:solidFill>
                <a:latin typeface="Roca One Bold"/>
                <a:ea typeface="Roca One Bold"/>
                <a:cs typeface="Roca One Bold"/>
                <a:sym typeface="Roca One Bold"/>
              </a:rPr>
              <a:t>SQL Server +</a:t>
            </a:r>
          </a:p>
          <a:p>
            <a:pPr algn="l">
              <a:lnSpc>
                <a:spcPts val="11582"/>
              </a:lnSpc>
            </a:pPr>
            <a:r>
              <a:rPr lang="en-US" sz="11699" b="true">
                <a:solidFill>
                  <a:srgbClr val="000000"/>
                </a:solidFill>
                <a:latin typeface="Roca One Bold"/>
                <a:ea typeface="Roca One Bold"/>
                <a:cs typeface="Roca One Bold"/>
                <a:sym typeface="Roca One Bold"/>
              </a:rPr>
              <a:t>Git/GitHub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09213" y="6224223"/>
            <a:ext cx="5583579" cy="572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5"/>
              </a:lnSpc>
              <a:spcBef>
                <a:spcPct val="0"/>
              </a:spcBef>
            </a:pPr>
            <a:r>
              <a:rPr lang="en-US" sz="3599">
                <a:solidFill>
                  <a:srgbClr val="000000"/>
                </a:solidFill>
                <a:latin typeface="Roca One"/>
                <a:ea typeface="Roca One"/>
                <a:cs typeface="Roca One"/>
                <a:sym typeface="Roca One"/>
              </a:rPr>
              <a:t>Base de Datos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7309213" y="7636372"/>
            <a:ext cx="4926955" cy="1621928"/>
            <a:chOff x="0" y="0"/>
            <a:chExt cx="6569274" cy="2162571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36877"/>
              <a:ext cx="6569274" cy="15256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spc="-43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Yonar Leyser, Mundaca Mondragon.</a:t>
              </a:r>
            </a:p>
            <a:p>
              <a:pPr algn="l">
                <a:lnSpc>
                  <a:spcPts val="3079"/>
                </a:lnSpc>
              </a:pPr>
              <a:r>
                <a:rPr lang="en-US" sz="2199" spc="-43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Código: 71134928 · 26/09/2026</a:t>
              </a:r>
            </a:p>
            <a:p>
              <a:pPr algn="l">
                <a:lnSpc>
                  <a:spcPts val="3079"/>
                </a:lnSpc>
              </a:pPr>
              <a:r>
                <a:rPr lang="en-US" sz="2199" spc="-43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alumno/mundaca-yonar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38100"/>
              <a:ext cx="6569274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Presentado por: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720333" y="8417422"/>
            <a:ext cx="4538967" cy="840878"/>
            <a:chOff x="0" y="0"/>
            <a:chExt cx="6051956" cy="1121171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636877"/>
              <a:ext cx="605195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spc="-43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Ing. Joel David, Espino Bravo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38100"/>
              <a:ext cx="6051956" cy="4842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79"/>
                </a:lnSpc>
              </a:pPr>
              <a:r>
                <a:rPr lang="en-US" sz="2199" b="tru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Docente: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8691466" cy="450583"/>
            <a:chOff x="0" y="0"/>
            <a:chExt cx="56117080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6117079" cy="2909220"/>
            </a:xfrm>
            <a:custGeom>
              <a:avLst/>
              <a:gdLst/>
              <a:ahLst/>
              <a:cxnLst/>
              <a:rect r="r" b="b" t="t" l="l"/>
              <a:pathLst>
                <a:path h="2909220" w="56117079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55229237" y="456"/>
                  </a:cubicBezTo>
                  <a:cubicBezTo>
                    <a:pt x="55445986" y="10310"/>
                    <a:pt x="55650302" y="29972"/>
                    <a:pt x="55784490" y="95181"/>
                  </a:cubicBezTo>
                  <a:cubicBezTo>
                    <a:pt x="56040536" y="219611"/>
                    <a:pt x="56122311" y="452651"/>
                    <a:pt x="56116823" y="698175"/>
                  </a:cubicBezTo>
                  <a:cubicBezTo>
                    <a:pt x="56116823" y="698175"/>
                    <a:pt x="56073539" y="1006564"/>
                    <a:pt x="56080968" y="1242098"/>
                  </a:cubicBezTo>
                  <a:cubicBezTo>
                    <a:pt x="56088093" y="2083014"/>
                    <a:pt x="56095249" y="2278617"/>
                    <a:pt x="56095249" y="2278617"/>
                  </a:cubicBezTo>
                  <a:cubicBezTo>
                    <a:pt x="56078568" y="2494349"/>
                    <a:pt x="55963927" y="2704961"/>
                    <a:pt x="55767058" y="2816585"/>
                  </a:cubicBezTo>
                  <a:cubicBezTo>
                    <a:pt x="55616704" y="2901834"/>
                    <a:pt x="55418670" y="2916931"/>
                    <a:pt x="44121518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Propósito y secuencia del laboratorio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El trabajo integra SQL Server con una metodología básica de control de versiones en Git/GitHub.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19175" y="2733675"/>
            <a:ext cx="2967990" cy="3516630"/>
            <a:chOff x="0" y="0"/>
            <a:chExt cx="3957320" cy="46888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957320" cy="4688840"/>
            </a:xfrm>
            <a:custGeom>
              <a:avLst/>
              <a:gdLst/>
              <a:ahLst/>
              <a:cxnLst/>
              <a:rect r="r" b="b" t="t" l="l"/>
              <a:pathLst>
                <a:path h="4688840" w="3957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810127" y="0"/>
                  </a:lnTo>
                  <a:cubicBezTo>
                    <a:pt x="3891407" y="0"/>
                    <a:pt x="3957320" y="65913"/>
                    <a:pt x="3957320" y="147193"/>
                  </a:cubicBezTo>
                  <a:lnTo>
                    <a:pt x="3957320" y="4541647"/>
                  </a:lnTo>
                  <a:cubicBezTo>
                    <a:pt x="3957320" y="4622927"/>
                    <a:pt x="3891407" y="4688840"/>
                    <a:pt x="3810127" y="4688840"/>
                  </a:cubicBezTo>
                  <a:lnTo>
                    <a:pt x="147193" y="4688840"/>
                  </a:lnTo>
                  <a:cubicBezTo>
                    <a:pt x="65913" y="4688840"/>
                    <a:pt x="0" y="4622927"/>
                    <a:pt x="0" y="4541647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D9E1E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951863" y="3104007"/>
            <a:ext cx="1116330" cy="1116330"/>
            <a:chOff x="0" y="0"/>
            <a:chExt cx="1488440" cy="1488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961388" y="3387852"/>
            <a:ext cx="1097280" cy="590283"/>
            <a:chOff x="0" y="0"/>
            <a:chExt cx="1463040" cy="787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463040" cy="787044"/>
            </a:xfrm>
            <a:custGeom>
              <a:avLst/>
              <a:gdLst/>
              <a:ahLst/>
              <a:cxnLst/>
              <a:rect r="r" b="b" t="t" l="l"/>
              <a:pathLst>
                <a:path h="78704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87044"/>
                  </a:lnTo>
                  <a:lnTo>
                    <a:pt x="0" y="7870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66" r="0" b="2892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1463040" cy="78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03020" y="4498848"/>
            <a:ext cx="2400300" cy="551669"/>
            <a:chOff x="0" y="0"/>
            <a:chExt cx="3200400" cy="73555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200400" cy="735559"/>
            </a:xfrm>
            <a:custGeom>
              <a:avLst/>
              <a:gdLst/>
              <a:ahLst/>
              <a:cxnLst/>
              <a:rect r="r" b="b" t="t" l="l"/>
              <a:pathLst>
                <a:path h="735559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735559"/>
                  </a:lnTo>
                  <a:lnTo>
                    <a:pt x="0" y="7355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98" r="0" b="-24559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3200400" cy="745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Crear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75588" y="5143500"/>
            <a:ext cx="2455164" cy="795528"/>
            <a:chOff x="0" y="0"/>
            <a:chExt cx="3273552" cy="10607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73552" cy="1060704"/>
            </a:xfrm>
            <a:custGeom>
              <a:avLst/>
              <a:gdLst/>
              <a:ahLst/>
              <a:cxnLst/>
              <a:rect r="r" b="b" t="t" l="l"/>
              <a:pathLst>
                <a:path h="1060704" w="3273552">
                  <a:moveTo>
                    <a:pt x="0" y="0"/>
                  </a:moveTo>
                  <a:lnTo>
                    <a:pt x="3273552" y="0"/>
                  </a:lnTo>
                  <a:lnTo>
                    <a:pt x="327355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134" r="0" b="-101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3273552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Base de datos y tablas iniciales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407027" y="2733675"/>
            <a:ext cx="2967990" cy="3516630"/>
            <a:chOff x="0" y="0"/>
            <a:chExt cx="3957320" cy="468884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957320" cy="4688840"/>
            </a:xfrm>
            <a:custGeom>
              <a:avLst/>
              <a:gdLst/>
              <a:ahLst/>
              <a:cxnLst/>
              <a:rect r="r" b="b" t="t" l="l"/>
              <a:pathLst>
                <a:path h="4688840" w="3957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810127" y="0"/>
                  </a:lnTo>
                  <a:cubicBezTo>
                    <a:pt x="3891407" y="0"/>
                    <a:pt x="3957320" y="65913"/>
                    <a:pt x="3957320" y="147193"/>
                  </a:cubicBezTo>
                  <a:lnTo>
                    <a:pt x="3957320" y="4541647"/>
                  </a:lnTo>
                  <a:cubicBezTo>
                    <a:pt x="3957320" y="4622927"/>
                    <a:pt x="3891407" y="4688840"/>
                    <a:pt x="3810127" y="4688840"/>
                  </a:cubicBezTo>
                  <a:lnTo>
                    <a:pt x="147193" y="4688840"/>
                  </a:lnTo>
                  <a:cubicBezTo>
                    <a:pt x="65913" y="4688840"/>
                    <a:pt x="0" y="4622927"/>
                    <a:pt x="0" y="4541647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D9E1EA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5339715" y="3104007"/>
            <a:ext cx="1116330" cy="1116330"/>
            <a:chOff x="0" y="0"/>
            <a:chExt cx="1488440" cy="1488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5349240" y="3387852"/>
            <a:ext cx="1097280" cy="590283"/>
            <a:chOff x="0" y="0"/>
            <a:chExt cx="1463040" cy="7870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463040" cy="787044"/>
            </a:xfrm>
            <a:custGeom>
              <a:avLst/>
              <a:gdLst/>
              <a:ahLst/>
              <a:cxnLst/>
              <a:rect r="r" b="b" t="t" l="l"/>
              <a:pathLst>
                <a:path h="78704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87044"/>
                  </a:lnTo>
                  <a:lnTo>
                    <a:pt x="0" y="7870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66" r="0" b="2892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463040" cy="78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2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690872" y="4498848"/>
            <a:ext cx="2400300" cy="551669"/>
            <a:chOff x="0" y="0"/>
            <a:chExt cx="3200400" cy="735559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200400" cy="735559"/>
            </a:xfrm>
            <a:custGeom>
              <a:avLst/>
              <a:gdLst/>
              <a:ahLst/>
              <a:cxnLst/>
              <a:rect r="r" b="b" t="t" l="l"/>
              <a:pathLst>
                <a:path h="735559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735559"/>
                  </a:lnTo>
                  <a:lnTo>
                    <a:pt x="0" y="7355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98" r="0" b="-24559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9525"/>
              <a:ext cx="3200400" cy="745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Modificar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4663440" y="5143500"/>
            <a:ext cx="2455164" cy="1054303"/>
            <a:chOff x="0" y="0"/>
            <a:chExt cx="3273552" cy="140573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73552" cy="1405738"/>
            </a:xfrm>
            <a:custGeom>
              <a:avLst/>
              <a:gdLst/>
              <a:ahLst/>
              <a:cxnLst/>
              <a:rect r="r" b="b" t="t" l="l"/>
              <a:pathLst>
                <a:path h="1405738" w="3273552">
                  <a:moveTo>
                    <a:pt x="0" y="0"/>
                  </a:moveTo>
                  <a:lnTo>
                    <a:pt x="3273552" y="0"/>
                  </a:lnTo>
                  <a:lnTo>
                    <a:pt x="3273552" y="1405738"/>
                  </a:lnTo>
                  <a:lnTo>
                    <a:pt x="0" y="1405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47" r="0" b="1689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57150"/>
              <a:ext cx="3273552" cy="1462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ALTER TABLE + campos de auditoría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7794879" y="2733675"/>
            <a:ext cx="2967990" cy="3516630"/>
            <a:chOff x="0" y="0"/>
            <a:chExt cx="3957320" cy="468884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957320" cy="4688840"/>
            </a:xfrm>
            <a:custGeom>
              <a:avLst/>
              <a:gdLst/>
              <a:ahLst/>
              <a:cxnLst/>
              <a:rect r="r" b="b" t="t" l="l"/>
              <a:pathLst>
                <a:path h="4688840" w="3957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810127" y="0"/>
                  </a:lnTo>
                  <a:cubicBezTo>
                    <a:pt x="3891407" y="0"/>
                    <a:pt x="3957320" y="65913"/>
                    <a:pt x="3957320" y="147193"/>
                  </a:cubicBezTo>
                  <a:lnTo>
                    <a:pt x="3957320" y="4541647"/>
                  </a:lnTo>
                  <a:cubicBezTo>
                    <a:pt x="3957320" y="4622927"/>
                    <a:pt x="3891407" y="4688840"/>
                    <a:pt x="3810127" y="4688840"/>
                  </a:cubicBezTo>
                  <a:lnTo>
                    <a:pt x="147193" y="4688840"/>
                  </a:lnTo>
                  <a:cubicBezTo>
                    <a:pt x="65913" y="4688840"/>
                    <a:pt x="0" y="4622927"/>
                    <a:pt x="0" y="4541647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D9E1EA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8727567" y="3104007"/>
            <a:ext cx="1116330" cy="1116330"/>
            <a:chOff x="0" y="0"/>
            <a:chExt cx="1488440" cy="1488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8737092" y="3387852"/>
            <a:ext cx="1097280" cy="590283"/>
            <a:chOff x="0" y="0"/>
            <a:chExt cx="1463040" cy="7870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63040" cy="787044"/>
            </a:xfrm>
            <a:custGeom>
              <a:avLst/>
              <a:gdLst/>
              <a:ahLst/>
              <a:cxnLst/>
              <a:rect r="r" b="b" t="t" l="l"/>
              <a:pathLst>
                <a:path h="78704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87044"/>
                  </a:lnTo>
                  <a:lnTo>
                    <a:pt x="0" y="7870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66" r="0" b="2892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1463040" cy="78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3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078724" y="4498848"/>
            <a:ext cx="2400300" cy="551669"/>
            <a:chOff x="0" y="0"/>
            <a:chExt cx="3200400" cy="735559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200400" cy="735559"/>
            </a:xfrm>
            <a:custGeom>
              <a:avLst/>
              <a:gdLst/>
              <a:ahLst/>
              <a:cxnLst/>
              <a:rect r="r" b="b" t="t" l="l"/>
              <a:pathLst>
                <a:path h="735559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735559"/>
                  </a:lnTo>
                  <a:lnTo>
                    <a:pt x="0" y="7355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98" r="0" b="-2455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3200400" cy="745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Poblar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8051292" y="5143500"/>
            <a:ext cx="2455164" cy="795528"/>
            <a:chOff x="0" y="0"/>
            <a:chExt cx="3273552" cy="106070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73552" cy="1060704"/>
            </a:xfrm>
            <a:custGeom>
              <a:avLst/>
              <a:gdLst/>
              <a:ahLst/>
              <a:cxnLst/>
              <a:rect r="r" b="b" t="t" l="l"/>
              <a:pathLst>
                <a:path h="1060704" w="3273552">
                  <a:moveTo>
                    <a:pt x="0" y="0"/>
                  </a:moveTo>
                  <a:lnTo>
                    <a:pt x="3273552" y="0"/>
                  </a:lnTo>
                  <a:lnTo>
                    <a:pt x="327355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134" r="0" b="-10134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57150"/>
              <a:ext cx="3273552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INSERT + SELECT de verificación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182731" y="2733675"/>
            <a:ext cx="2967990" cy="3516630"/>
            <a:chOff x="0" y="0"/>
            <a:chExt cx="3957320" cy="46888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957320" cy="4688840"/>
            </a:xfrm>
            <a:custGeom>
              <a:avLst/>
              <a:gdLst/>
              <a:ahLst/>
              <a:cxnLst/>
              <a:rect r="r" b="b" t="t" l="l"/>
              <a:pathLst>
                <a:path h="4688840" w="3957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810127" y="0"/>
                  </a:lnTo>
                  <a:cubicBezTo>
                    <a:pt x="3891407" y="0"/>
                    <a:pt x="3957320" y="65913"/>
                    <a:pt x="3957320" y="147193"/>
                  </a:cubicBezTo>
                  <a:lnTo>
                    <a:pt x="3957320" y="4541647"/>
                  </a:lnTo>
                  <a:cubicBezTo>
                    <a:pt x="3957320" y="4622927"/>
                    <a:pt x="3891407" y="4688840"/>
                    <a:pt x="3810127" y="4688840"/>
                  </a:cubicBezTo>
                  <a:lnTo>
                    <a:pt x="147193" y="4688840"/>
                  </a:lnTo>
                  <a:cubicBezTo>
                    <a:pt x="65913" y="4688840"/>
                    <a:pt x="0" y="4622927"/>
                    <a:pt x="0" y="4541647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D9E1EA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115419" y="3104007"/>
            <a:ext cx="1116330" cy="1116330"/>
            <a:chOff x="0" y="0"/>
            <a:chExt cx="1488440" cy="148844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124944" y="3387852"/>
            <a:ext cx="1097280" cy="590283"/>
            <a:chOff x="0" y="0"/>
            <a:chExt cx="1463040" cy="7870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463040" cy="787044"/>
            </a:xfrm>
            <a:custGeom>
              <a:avLst/>
              <a:gdLst/>
              <a:ahLst/>
              <a:cxnLst/>
              <a:rect r="r" b="b" t="t" l="l"/>
              <a:pathLst>
                <a:path h="78704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87044"/>
                  </a:lnTo>
                  <a:lnTo>
                    <a:pt x="0" y="7870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66" r="0" b="2892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463040" cy="78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1466576" y="4498848"/>
            <a:ext cx="2400300" cy="551669"/>
            <a:chOff x="0" y="0"/>
            <a:chExt cx="3200400" cy="73555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200400" cy="735559"/>
            </a:xfrm>
            <a:custGeom>
              <a:avLst/>
              <a:gdLst/>
              <a:ahLst/>
              <a:cxnLst/>
              <a:rect r="r" b="b" t="t" l="l"/>
              <a:pathLst>
                <a:path h="735559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735559"/>
                  </a:lnTo>
                  <a:lnTo>
                    <a:pt x="0" y="7355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98" r="0" b="-2455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9525"/>
              <a:ext cx="3200400" cy="745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Gestionar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1439144" y="5143500"/>
            <a:ext cx="2455164" cy="795528"/>
            <a:chOff x="0" y="0"/>
            <a:chExt cx="3273552" cy="106070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73552" cy="1060704"/>
            </a:xfrm>
            <a:custGeom>
              <a:avLst/>
              <a:gdLst/>
              <a:ahLst/>
              <a:cxnLst/>
              <a:rect r="r" b="b" t="t" l="l"/>
              <a:pathLst>
                <a:path h="1060704" w="3273552">
                  <a:moveTo>
                    <a:pt x="0" y="0"/>
                  </a:moveTo>
                  <a:lnTo>
                    <a:pt x="3273552" y="0"/>
                  </a:lnTo>
                  <a:lnTo>
                    <a:pt x="3273552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134" r="0" b="-1013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57150"/>
              <a:ext cx="3273552" cy="11178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UPDATE, borrado lógico y DELETE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570583" y="2733675"/>
            <a:ext cx="2967990" cy="3516630"/>
            <a:chOff x="0" y="0"/>
            <a:chExt cx="3957320" cy="46888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957320" cy="4688840"/>
            </a:xfrm>
            <a:custGeom>
              <a:avLst/>
              <a:gdLst/>
              <a:ahLst/>
              <a:cxnLst/>
              <a:rect r="r" b="b" t="t" l="l"/>
              <a:pathLst>
                <a:path h="4688840" w="395732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3810127" y="0"/>
                  </a:lnTo>
                  <a:cubicBezTo>
                    <a:pt x="3891407" y="0"/>
                    <a:pt x="3957320" y="65913"/>
                    <a:pt x="3957320" y="147193"/>
                  </a:cubicBezTo>
                  <a:lnTo>
                    <a:pt x="3957320" y="4541647"/>
                  </a:lnTo>
                  <a:cubicBezTo>
                    <a:pt x="3957320" y="4622927"/>
                    <a:pt x="3891407" y="4688840"/>
                    <a:pt x="3810127" y="4688840"/>
                  </a:cubicBezTo>
                  <a:lnTo>
                    <a:pt x="147193" y="4688840"/>
                  </a:lnTo>
                  <a:cubicBezTo>
                    <a:pt x="65913" y="4688840"/>
                    <a:pt x="0" y="4622927"/>
                    <a:pt x="0" y="4541647"/>
                  </a:cubicBezTo>
                  <a:close/>
                </a:path>
              </a:pathLst>
            </a:custGeom>
            <a:solidFill>
              <a:srgbClr val="F4F4F4"/>
            </a:solidFill>
            <a:ln w="19050" cap="sq">
              <a:solidFill>
                <a:srgbClr val="D9E1EA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5503271" y="3104007"/>
            <a:ext cx="1116330" cy="1116330"/>
            <a:chOff x="0" y="0"/>
            <a:chExt cx="1488440" cy="148844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488440" cy="1488440"/>
            </a:xfrm>
            <a:custGeom>
              <a:avLst/>
              <a:gdLst/>
              <a:ahLst/>
              <a:cxnLst/>
              <a:rect r="r" b="b" t="t" l="l"/>
              <a:pathLst>
                <a:path h="1488440" w="1488440">
                  <a:moveTo>
                    <a:pt x="0" y="744220"/>
                  </a:moveTo>
                  <a:cubicBezTo>
                    <a:pt x="0" y="333248"/>
                    <a:pt x="333248" y="0"/>
                    <a:pt x="744220" y="0"/>
                  </a:cubicBezTo>
                  <a:cubicBezTo>
                    <a:pt x="1155192" y="0"/>
                    <a:pt x="1488440" y="333248"/>
                    <a:pt x="1488440" y="744220"/>
                  </a:cubicBezTo>
                  <a:cubicBezTo>
                    <a:pt x="1488440" y="1155192"/>
                    <a:pt x="1155192" y="1488440"/>
                    <a:pt x="744220" y="1488440"/>
                  </a:cubicBezTo>
                  <a:cubicBezTo>
                    <a:pt x="333248" y="1488440"/>
                    <a:pt x="0" y="1155192"/>
                    <a:pt x="0" y="744220"/>
                  </a:cubicBezTo>
                  <a:close/>
                </a:path>
              </a:pathLst>
            </a:custGeom>
            <a:solidFill>
              <a:srgbClr val="45B5CC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69" id="69"/>
          <p:cNvGrpSpPr/>
          <p:nvPr/>
        </p:nvGrpSpPr>
        <p:grpSpPr>
          <a:xfrm rot="0">
            <a:off x="15512796" y="3387852"/>
            <a:ext cx="1097280" cy="590283"/>
            <a:chOff x="0" y="0"/>
            <a:chExt cx="1463040" cy="7870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463040" cy="787044"/>
            </a:xfrm>
            <a:custGeom>
              <a:avLst/>
              <a:gdLst/>
              <a:ahLst/>
              <a:cxnLst/>
              <a:rect r="r" b="b" t="t" l="l"/>
              <a:pathLst>
                <a:path h="787044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787044"/>
                  </a:lnTo>
                  <a:lnTo>
                    <a:pt x="0" y="7870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66" r="0" b="2892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463040" cy="7870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5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4854428" y="4498848"/>
            <a:ext cx="2400300" cy="551669"/>
            <a:chOff x="0" y="0"/>
            <a:chExt cx="3200400" cy="735559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200400" cy="735559"/>
            </a:xfrm>
            <a:custGeom>
              <a:avLst/>
              <a:gdLst/>
              <a:ahLst/>
              <a:cxnLst/>
              <a:rect r="r" b="b" t="t" l="l"/>
              <a:pathLst>
                <a:path h="735559" w="3200400">
                  <a:moveTo>
                    <a:pt x="0" y="0"/>
                  </a:moveTo>
                  <a:lnTo>
                    <a:pt x="3200400" y="0"/>
                  </a:lnTo>
                  <a:lnTo>
                    <a:pt x="3200400" y="735559"/>
                  </a:lnTo>
                  <a:lnTo>
                    <a:pt x="0" y="735559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4998" r="0" b="-24559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3200400" cy="7450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060"/>
                </a:lnSpc>
              </a:pPr>
              <a:r>
                <a:rPr lang="en-US" sz="2550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Versionar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4826996" y="5143500"/>
            <a:ext cx="2455164" cy="1054303"/>
            <a:chOff x="0" y="0"/>
            <a:chExt cx="3273552" cy="140573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273552" cy="1405738"/>
            </a:xfrm>
            <a:custGeom>
              <a:avLst/>
              <a:gdLst/>
              <a:ahLst/>
              <a:cxnLst/>
              <a:rect r="r" b="b" t="t" l="l"/>
              <a:pathLst>
                <a:path h="1405738" w="3273552">
                  <a:moveTo>
                    <a:pt x="0" y="0"/>
                  </a:moveTo>
                  <a:lnTo>
                    <a:pt x="3273552" y="0"/>
                  </a:lnTo>
                  <a:lnTo>
                    <a:pt x="3273552" y="1405738"/>
                  </a:lnTo>
                  <a:lnTo>
                    <a:pt x="0" y="1405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647" r="0" b="16897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57150"/>
              <a:ext cx="3273552" cy="1462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Rama personal, commits y evidencias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851660" y="7502652"/>
            <a:ext cx="2606040" cy="435483"/>
            <a:chOff x="0" y="0"/>
            <a:chExt cx="3474720" cy="580644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474720" cy="580644"/>
            </a:xfrm>
            <a:custGeom>
              <a:avLst/>
              <a:gdLst/>
              <a:ahLst/>
              <a:cxnLst/>
              <a:rect r="r" b="b" t="t" l="l"/>
              <a:pathLst>
                <a:path h="580644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580644"/>
                  </a:lnTo>
                  <a:lnTo>
                    <a:pt x="0" y="58064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8808" r="0" b="-54398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47625"/>
              <a:ext cx="3474720" cy="62826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2800"/>
                </a:lnSpc>
                <a:spcBef>
                  <a:spcPct val="0"/>
                </a:spcBef>
              </a:pPr>
              <a:r>
                <a:rPr lang="en-US" b="true" sz="2000" spc="26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Resultado esperado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4732020" y="7392924"/>
            <a:ext cx="11315700" cy="720928"/>
            <a:chOff x="0" y="0"/>
            <a:chExt cx="15087600" cy="961238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5087600" cy="961238"/>
            </a:xfrm>
            <a:custGeom>
              <a:avLst/>
              <a:gdLst/>
              <a:ahLst/>
              <a:cxnLst/>
              <a:rect r="r" b="b" t="t" l="l"/>
              <a:pathLst>
                <a:path h="961238" w="15087600">
                  <a:moveTo>
                    <a:pt x="0" y="0"/>
                  </a:moveTo>
                  <a:lnTo>
                    <a:pt x="15087600" y="0"/>
                  </a:lnTo>
                  <a:lnTo>
                    <a:pt x="15087600" y="961238"/>
                  </a:lnTo>
                  <a:lnTo>
                    <a:pt x="0" y="9612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65883" r="0" b="-245790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57150"/>
              <a:ext cx="15087600" cy="10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Un script SQL ordenado, ejecutable y documentado; evidencias de cada operación; y un historial de commits que muestre el avance progresivo del laboratorio.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7091266" cy="450583"/>
            <a:chOff x="0" y="0"/>
            <a:chExt cx="45785273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785276" cy="2909220"/>
            </a:xfrm>
            <a:custGeom>
              <a:avLst/>
              <a:gdLst/>
              <a:ahLst/>
              <a:cxnLst/>
              <a:rect r="r" b="b" t="t" l="l"/>
              <a:pathLst>
                <a:path h="2909220" w="45785276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4897433" y="456"/>
                  </a:cubicBezTo>
                  <a:cubicBezTo>
                    <a:pt x="45114180" y="10310"/>
                    <a:pt x="45318496" y="29972"/>
                    <a:pt x="45452683" y="95181"/>
                  </a:cubicBezTo>
                  <a:cubicBezTo>
                    <a:pt x="45708729" y="219611"/>
                    <a:pt x="45790504" y="452651"/>
                    <a:pt x="45785019" y="698175"/>
                  </a:cubicBezTo>
                  <a:cubicBezTo>
                    <a:pt x="45785019" y="698175"/>
                    <a:pt x="45741729" y="1006564"/>
                    <a:pt x="45749164" y="1242098"/>
                  </a:cubicBezTo>
                  <a:cubicBezTo>
                    <a:pt x="45756286" y="2083014"/>
                    <a:pt x="45763442" y="2278617"/>
                    <a:pt x="45763442" y="2278617"/>
                  </a:cubicBezTo>
                  <a:cubicBezTo>
                    <a:pt x="45746761" y="2494349"/>
                    <a:pt x="45632117" y="2704961"/>
                    <a:pt x="45435248" y="2816585"/>
                  </a:cubicBezTo>
                  <a:cubicBezTo>
                    <a:pt x="45284898" y="2901834"/>
                    <a:pt x="45086867" y="2916931"/>
                    <a:pt x="35893270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Base de datos y tablas creadas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BD_ACADEMICO_MUNDACA contiene las tres tablas principales solicitadas.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9848" y="2788653"/>
            <a:ext cx="7804404" cy="4641113"/>
            <a:chOff x="0" y="0"/>
            <a:chExt cx="10405872" cy="6188151"/>
          </a:xfrm>
        </p:grpSpPr>
        <p:sp>
          <p:nvSpPr>
            <p:cNvPr name="Freeform 14" id="14" descr="/mnt/data/01_base_datos.png"/>
            <p:cNvSpPr/>
            <p:nvPr/>
          </p:nvSpPr>
          <p:spPr>
            <a:xfrm flipH="false" flipV="false" rot="0">
              <a:off x="0" y="0"/>
              <a:ext cx="10405872" cy="6188202"/>
            </a:xfrm>
            <a:custGeom>
              <a:avLst/>
              <a:gdLst/>
              <a:ahLst/>
              <a:cxnLst/>
              <a:rect r="r" b="b" t="t" l="l"/>
              <a:pathLst>
                <a:path h="6188202" w="10405872">
                  <a:moveTo>
                    <a:pt x="0" y="0"/>
                  </a:moveTo>
                  <a:lnTo>
                    <a:pt x="10405872" y="0"/>
                  </a:lnTo>
                  <a:lnTo>
                    <a:pt x="10405872" y="6188202"/>
                  </a:lnTo>
                  <a:lnTo>
                    <a:pt x="0" y="6188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436608" y="2788653"/>
            <a:ext cx="7804404" cy="4641113"/>
            <a:chOff x="0" y="0"/>
            <a:chExt cx="10405872" cy="6188151"/>
          </a:xfrm>
        </p:grpSpPr>
        <p:sp>
          <p:nvSpPr>
            <p:cNvPr name="Freeform 16" id="16" descr="/mnt/data/02_tablas.png"/>
            <p:cNvSpPr/>
            <p:nvPr/>
          </p:nvSpPr>
          <p:spPr>
            <a:xfrm flipH="false" flipV="false" rot="0">
              <a:off x="0" y="0"/>
              <a:ext cx="10405872" cy="6188202"/>
            </a:xfrm>
            <a:custGeom>
              <a:avLst/>
              <a:gdLst/>
              <a:ahLst/>
              <a:cxnLst/>
              <a:rect r="r" b="b" t="t" l="l"/>
              <a:pathLst>
                <a:path h="6188202" w="10405872">
                  <a:moveTo>
                    <a:pt x="0" y="0"/>
                  </a:moveTo>
                  <a:lnTo>
                    <a:pt x="10405872" y="0"/>
                  </a:lnTo>
                  <a:lnTo>
                    <a:pt x="10405872" y="6188202"/>
                  </a:lnTo>
                  <a:lnTo>
                    <a:pt x="0" y="61882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34440" y="8394192"/>
            <a:ext cx="1988820" cy="440331"/>
            <a:chOff x="0" y="0"/>
            <a:chExt cx="2651760" cy="5871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51760" cy="587108"/>
            </a:xfrm>
            <a:custGeom>
              <a:avLst/>
              <a:gdLst/>
              <a:ahLst/>
              <a:cxnLst/>
              <a:rect r="r" b="b" t="t" l="l"/>
              <a:pathLst>
                <a:path h="587108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87108"/>
                  </a:lnTo>
                  <a:lnTo>
                    <a:pt x="0" y="5871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12" r="0" b="-2850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651760" cy="587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Base de datos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360420" y="8394192"/>
            <a:ext cx="5143500" cy="411242"/>
            <a:chOff x="0" y="0"/>
            <a:chExt cx="6858000" cy="54832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8000" cy="548322"/>
            </a:xfrm>
            <a:custGeom>
              <a:avLst/>
              <a:gdLst/>
              <a:ahLst/>
              <a:cxnLst/>
              <a:rect r="r" b="b" t="t" l="l"/>
              <a:pathLst>
                <a:path h="548322" w="6858000">
                  <a:moveTo>
                    <a:pt x="0" y="0"/>
                  </a:moveTo>
                  <a:lnTo>
                    <a:pt x="6858000" y="0"/>
                  </a:lnTo>
                  <a:lnTo>
                    <a:pt x="685800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0345" r="0" b="-18706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858000" cy="5483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0F8FA5"/>
                  </a:solidFill>
                  <a:latin typeface="Roca One"/>
                  <a:ea typeface="Roca One"/>
                  <a:cs typeface="Roca One"/>
                  <a:sym typeface="Roca One"/>
                </a:rPr>
                <a:t>BD_ACADEMICO_MUNDACA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601200" y="8394192"/>
            <a:ext cx="1028700" cy="440331"/>
            <a:chOff x="0" y="0"/>
            <a:chExt cx="1371600" cy="58710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1600" cy="587108"/>
            </a:xfrm>
            <a:custGeom>
              <a:avLst/>
              <a:gdLst/>
              <a:ahLst/>
              <a:cxnLst/>
              <a:rect r="r" b="b" t="t" l="l"/>
              <a:pathLst>
                <a:path h="587108" w="1371600">
                  <a:moveTo>
                    <a:pt x="0" y="0"/>
                  </a:moveTo>
                  <a:lnTo>
                    <a:pt x="1371600" y="0"/>
                  </a:lnTo>
                  <a:lnTo>
                    <a:pt x="1371600" y="587108"/>
                  </a:lnTo>
                  <a:lnTo>
                    <a:pt x="0" y="58710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026" r="0" b="13985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1371600" cy="5871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Tablas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04220" y="8394192"/>
            <a:ext cx="6103620" cy="399709"/>
            <a:chOff x="0" y="0"/>
            <a:chExt cx="8138160" cy="5329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38160" cy="532945"/>
            </a:xfrm>
            <a:custGeom>
              <a:avLst/>
              <a:gdLst/>
              <a:ahLst/>
              <a:cxnLst/>
              <a:rect r="r" b="b" t="t" l="l"/>
              <a:pathLst>
                <a:path h="532945" w="8138160">
                  <a:moveTo>
                    <a:pt x="0" y="0"/>
                  </a:moveTo>
                  <a:lnTo>
                    <a:pt x="8138160" y="0"/>
                  </a:lnTo>
                  <a:lnTo>
                    <a:pt x="8138160" y="532945"/>
                  </a:lnTo>
                  <a:lnTo>
                    <a:pt x="0" y="5329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52930" r="0" b="-242149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8138160" cy="532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0F8FA5"/>
                  </a:solidFill>
                  <a:latin typeface="Roca One"/>
                  <a:ea typeface="Roca One"/>
                  <a:cs typeface="Roca One"/>
                  <a:sym typeface="Roca One"/>
                </a:rPr>
                <a:t>ESTUDIANTE  ·  DOCENTE  ·  CURSO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11768328" cy="450583"/>
            <a:chOff x="0" y="0"/>
            <a:chExt cx="75983060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5983061" cy="2909220"/>
            </a:xfrm>
            <a:custGeom>
              <a:avLst/>
              <a:gdLst/>
              <a:ahLst/>
              <a:cxnLst/>
              <a:rect r="r" b="b" t="t" l="l"/>
              <a:pathLst>
                <a:path h="2909220" w="75983061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75095218" y="456"/>
                  </a:cubicBezTo>
                  <a:cubicBezTo>
                    <a:pt x="75311967" y="10310"/>
                    <a:pt x="75516284" y="29972"/>
                    <a:pt x="75650471" y="95181"/>
                  </a:cubicBezTo>
                  <a:cubicBezTo>
                    <a:pt x="75906517" y="219611"/>
                    <a:pt x="75988292" y="452651"/>
                    <a:pt x="75982804" y="698175"/>
                  </a:cubicBezTo>
                  <a:cubicBezTo>
                    <a:pt x="75982804" y="698175"/>
                    <a:pt x="75939520" y="1006564"/>
                    <a:pt x="75946949" y="1242098"/>
                  </a:cubicBezTo>
                  <a:cubicBezTo>
                    <a:pt x="75954074" y="2083014"/>
                    <a:pt x="75961230" y="2278617"/>
                    <a:pt x="75961230" y="2278617"/>
                  </a:cubicBezTo>
                  <a:cubicBezTo>
                    <a:pt x="75944549" y="2494349"/>
                    <a:pt x="75829902" y="2704961"/>
                    <a:pt x="75633033" y="2816585"/>
                  </a:cubicBezTo>
                  <a:cubicBezTo>
                    <a:pt x="75482686" y="2901834"/>
                    <a:pt x="75284651" y="2916931"/>
                    <a:pt x="59942785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IDENTITY(1,1): identificadores autoincrementables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Los identificadores se generan automáticamente; no se escriben manualmente durante los INSERT.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97280" y="2601373"/>
            <a:ext cx="9587484" cy="5701475"/>
            <a:chOff x="0" y="0"/>
            <a:chExt cx="12783312" cy="7601966"/>
          </a:xfrm>
        </p:grpSpPr>
        <p:sp>
          <p:nvSpPr>
            <p:cNvPr name="Freeform 14" id="14" descr="/mnt/data/03_campos_identity.png"/>
            <p:cNvSpPr/>
            <p:nvPr/>
          </p:nvSpPr>
          <p:spPr>
            <a:xfrm flipH="false" flipV="false" rot="0">
              <a:off x="0" y="0"/>
              <a:ext cx="12783312" cy="7601966"/>
            </a:xfrm>
            <a:custGeom>
              <a:avLst/>
              <a:gdLst/>
              <a:ahLst/>
              <a:cxnLst/>
              <a:rect r="r" b="b" t="t" l="l"/>
              <a:pathLst>
                <a:path h="7601966" w="12783312">
                  <a:moveTo>
                    <a:pt x="0" y="0"/>
                  </a:moveTo>
                  <a:lnTo>
                    <a:pt x="12783312" y="0"/>
                  </a:lnTo>
                  <a:lnTo>
                    <a:pt x="12783312" y="7601966"/>
                  </a:lnTo>
                  <a:lnTo>
                    <a:pt x="0" y="7601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86032" y="2674620"/>
            <a:ext cx="1920240" cy="508035"/>
            <a:chOff x="0" y="0"/>
            <a:chExt cx="2560320" cy="6773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560320" cy="677380"/>
            </a:xfrm>
            <a:custGeom>
              <a:avLst/>
              <a:gdLst/>
              <a:ahLst/>
              <a:cxnLst/>
              <a:rect r="r" b="b" t="t" l="l"/>
              <a:pathLst>
                <a:path h="677380" w="2560320">
                  <a:moveTo>
                    <a:pt x="0" y="0"/>
                  </a:moveTo>
                  <a:lnTo>
                    <a:pt x="2560320" y="0"/>
                  </a:lnTo>
                  <a:lnTo>
                    <a:pt x="2560320" y="677380"/>
                  </a:lnTo>
                  <a:lnTo>
                    <a:pt x="0" y="67738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850" r="0" b="-11445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2560320" cy="6773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90"/>
                </a:lnSpc>
              </a:pPr>
              <a:r>
                <a:rPr lang="en-US" sz="2325" b="true">
                  <a:solidFill>
                    <a:srgbClr val="0F8FA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¿Qué hace?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686032" y="3209544"/>
            <a:ext cx="4869180" cy="723069"/>
            <a:chOff x="0" y="0"/>
            <a:chExt cx="6492240" cy="9640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492240" cy="964093"/>
            </a:xfrm>
            <a:custGeom>
              <a:avLst/>
              <a:gdLst/>
              <a:ahLst/>
              <a:cxnLst/>
              <a:rect r="r" b="b" t="t" l="l"/>
              <a:pathLst>
                <a:path h="964093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64093"/>
                  </a:lnTo>
                  <a:lnTo>
                    <a:pt x="0" y="9640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1377" r="0" b="-71048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6492240" cy="964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Empieza en 1 y aumenta de 1 en 1 con cada nuevo registro.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617452" y="4704588"/>
            <a:ext cx="5225796" cy="1220724"/>
            <a:chOff x="0" y="0"/>
            <a:chExt cx="6967728" cy="162763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67728" cy="1627632"/>
            </a:xfrm>
            <a:custGeom>
              <a:avLst/>
              <a:gdLst/>
              <a:ahLst/>
              <a:cxnLst/>
              <a:rect r="r" b="b" t="t" l="l"/>
              <a:pathLst>
                <a:path h="1627632" w="6967728">
                  <a:moveTo>
                    <a:pt x="0" y="0"/>
                  </a:moveTo>
                  <a:lnTo>
                    <a:pt x="6967728" y="0"/>
                  </a:lnTo>
                  <a:lnTo>
                    <a:pt x="6967728" y="1627632"/>
                  </a:lnTo>
                  <a:lnTo>
                    <a:pt x="0" y="16276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413" r="0" b="-33413"/>
              </a:stretch>
            </a:blipFill>
            <a:ln w="28575" cap="sq">
              <a:solidFill>
                <a:srgbClr val="1FB6C9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6967728" cy="16371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id_estudiante INT</a:t>
              </a:r>
            </a:p>
            <a:p>
              <a:pPr algn="ctr">
                <a:lnSpc>
                  <a:spcPts val="2700"/>
                </a:lnSpc>
              </a:pPr>
              <a:r>
                <a:rPr lang="en-US" sz="2250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IDENTITY(1,1) PRIMARY KEY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443335" y="6766179"/>
            <a:ext cx="169926" cy="169926"/>
            <a:chOff x="0" y="0"/>
            <a:chExt cx="226568" cy="2265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1754612" y="6624828"/>
            <a:ext cx="5116068" cy="507492"/>
            <a:chOff x="0" y="0"/>
            <a:chExt cx="6821424" cy="67665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821424" cy="676656"/>
            </a:xfrm>
            <a:custGeom>
              <a:avLst/>
              <a:gdLst/>
              <a:ahLst/>
              <a:cxnLst/>
              <a:rect r="r" b="b" t="t" l="l"/>
              <a:pathLst>
                <a:path h="676656" w="6821424">
                  <a:moveTo>
                    <a:pt x="0" y="0"/>
                  </a:moveTo>
                  <a:lnTo>
                    <a:pt x="6821424" y="0"/>
                  </a:lnTo>
                  <a:lnTo>
                    <a:pt x="682142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6430" r="0" b="-146430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682142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Evita asignar IDs manualmente.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443335" y="7479411"/>
            <a:ext cx="169926" cy="169926"/>
            <a:chOff x="0" y="0"/>
            <a:chExt cx="226568" cy="22656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1754612" y="7338060"/>
            <a:ext cx="5116068" cy="507492"/>
            <a:chOff x="0" y="0"/>
            <a:chExt cx="6821424" cy="67665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821424" cy="676656"/>
            </a:xfrm>
            <a:custGeom>
              <a:avLst/>
              <a:gdLst/>
              <a:ahLst/>
              <a:cxnLst/>
              <a:rect r="r" b="b" t="t" l="l"/>
              <a:pathLst>
                <a:path h="676656" w="6821424">
                  <a:moveTo>
                    <a:pt x="0" y="0"/>
                  </a:moveTo>
                  <a:lnTo>
                    <a:pt x="6821424" y="0"/>
                  </a:lnTo>
                  <a:lnTo>
                    <a:pt x="682142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46430" r="0" b="-14643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682142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Reduce errores de duplicidad.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1443335" y="8192643"/>
            <a:ext cx="169926" cy="169926"/>
            <a:chOff x="0" y="0"/>
            <a:chExt cx="226568" cy="2265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1754612" y="8051292"/>
            <a:ext cx="5116068" cy="723069"/>
            <a:chOff x="0" y="0"/>
            <a:chExt cx="6821424" cy="96409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21424" cy="964093"/>
            </a:xfrm>
            <a:custGeom>
              <a:avLst/>
              <a:gdLst/>
              <a:ahLst/>
              <a:cxnLst/>
              <a:rect r="r" b="b" t="t" l="l"/>
              <a:pathLst>
                <a:path h="964093" w="6821424">
                  <a:moveTo>
                    <a:pt x="0" y="0"/>
                  </a:moveTo>
                  <a:lnTo>
                    <a:pt x="6821424" y="0"/>
                  </a:lnTo>
                  <a:lnTo>
                    <a:pt x="6821424" y="964093"/>
                  </a:lnTo>
                  <a:lnTo>
                    <a:pt x="0" y="9640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02773" r="0" b="-7295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821424" cy="9640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Se aplicó en ESTUDIANTE, DOCENTE y CURSO.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8500966" cy="450583"/>
            <a:chOff x="0" y="0"/>
            <a:chExt cx="54887103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4887102" cy="2909220"/>
            </a:xfrm>
            <a:custGeom>
              <a:avLst/>
              <a:gdLst/>
              <a:ahLst/>
              <a:cxnLst/>
              <a:rect r="r" b="b" t="t" l="l"/>
              <a:pathLst>
                <a:path h="2909220" w="54887102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53999265" y="456"/>
                  </a:cubicBezTo>
                  <a:cubicBezTo>
                    <a:pt x="54216009" y="10310"/>
                    <a:pt x="54420325" y="29972"/>
                    <a:pt x="54554512" y="95181"/>
                  </a:cubicBezTo>
                  <a:cubicBezTo>
                    <a:pt x="54810558" y="219611"/>
                    <a:pt x="54892333" y="452651"/>
                    <a:pt x="54886845" y="698175"/>
                  </a:cubicBezTo>
                  <a:cubicBezTo>
                    <a:pt x="54886845" y="698175"/>
                    <a:pt x="54843561" y="1006564"/>
                    <a:pt x="54850996" y="1242098"/>
                  </a:cubicBezTo>
                  <a:cubicBezTo>
                    <a:pt x="54858115" y="2083014"/>
                    <a:pt x="54865271" y="2278617"/>
                    <a:pt x="54865271" y="2278617"/>
                  </a:cubicBezTo>
                  <a:cubicBezTo>
                    <a:pt x="54848590" y="2494349"/>
                    <a:pt x="54733949" y="2704961"/>
                    <a:pt x="54537080" y="2816585"/>
                  </a:cubicBezTo>
                  <a:cubicBezTo>
                    <a:pt x="54386727" y="2901834"/>
                    <a:pt x="54188699" y="2916931"/>
                    <a:pt x="43141965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ALTER TABLE y campos de auditoría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720928"/>
            <a:chOff x="0" y="0"/>
            <a:chExt cx="17647920" cy="9612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961238"/>
            </a:xfrm>
            <a:custGeom>
              <a:avLst/>
              <a:gdLst/>
              <a:ahLst/>
              <a:cxnLst/>
              <a:rect r="r" b="b" t="t" l="l"/>
              <a:pathLst>
                <a:path h="9612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961238"/>
                  </a:lnTo>
                  <a:lnTo>
                    <a:pt x="0" y="9612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101" r="0" b="-28437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10183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Las tablas se ampliaron sin volver a crearlas, agregando información de control del ciclo de vida del registro.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78027" y="2116455"/>
            <a:ext cx="7151370" cy="4133850"/>
            <a:chOff x="0" y="0"/>
            <a:chExt cx="9535160" cy="5511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535160" cy="5511800"/>
            </a:xfrm>
            <a:custGeom>
              <a:avLst/>
              <a:gdLst/>
              <a:ahLst/>
              <a:cxnLst/>
              <a:rect r="r" b="b" t="t" l="l"/>
              <a:pathLst>
                <a:path h="5511800" w="9535160">
                  <a:moveTo>
                    <a:pt x="0" y="110236"/>
                  </a:moveTo>
                  <a:cubicBezTo>
                    <a:pt x="0" y="49403"/>
                    <a:pt x="49403" y="0"/>
                    <a:pt x="110236" y="0"/>
                  </a:cubicBezTo>
                  <a:lnTo>
                    <a:pt x="9424924" y="0"/>
                  </a:lnTo>
                  <a:cubicBezTo>
                    <a:pt x="9485757" y="0"/>
                    <a:pt x="9535160" y="49403"/>
                    <a:pt x="9535160" y="110236"/>
                  </a:cubicBezTo>
                  <a:lnTo>
                    <a:pt x="9535160" y="5401564"/>
                  </a:lnTo>
                  <a:cubicBezTo>
                    <a:pt x="9535160" y="5462397"/>
                    <a:pt x="9485757" y="5511800"/>
                    <a:pt x="9424924" y="5511800"/>
                  </a:cubicBezTo>
                  <a:lnTo>
                    <a:pt x="110236" y="5511800"/>
                  </a:lnTo>
                  <a:cubicBezTo>
                    <a:pt x="49403" y="5511800"/>
                    <a:pt x="0" y="5462397"/>
                    <a:pt x="0" y="5401564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89304" y="2372868"/>
            <a:ext cx="6528816" cy="3621024"/>
            <a:chOff x="0" y="0"/>
            <a:chExt cx="8705088" cy="482803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05088" cy="4828032"/>
            </a:xfrm>
            <a:custGeom>
              <a:avLst/>
              <a:gdLst/>
              <a:ahLst/>
              <a:cxnLst/>
              <a:rect r="r" b="b" t="t" l="l"/>
              <a:pathLst>
                <a:path h="4828032" w="8705088">
                  <a:moveTo>
                    <a:pt x="0" y="0"/>
                  </a:moveTo>
                  <a:lnTo>
                    <a:pt x="8705088" y="0"/>
                  </a:lnTo>
                  <a:lnTo>
                    <a:pt x="8705088" y="4828032"/>
                  </a:lnTo>
                  <a:lnTo>
                    <a:pt x="0" y="482803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1159" t="0" r="-21159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8705088" cy="4828032"/>
            </a:xfrm>
            <a:prstGeom prst="rect">
              <a:avLst/>
            </a:prstGeom>
          </p:spPr>
          <p:txBody>
            <a:bodyPr anchor="ctr" rtlCol="false" tIns="304800" lIns="304800" bIns="304800" rIns="304800"/>
            <a:lstStyle/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F9FAFB"/>
                  </a:solidFill>
                  <a:latin typeface="Roca One"/>
                  <a:ea typeface="Roca One"/>
                  <a:cs typeface="Roca One"/>
                  <a:sym typeface="Roca One"/>
                </a:rPr>
                <a:t>ALTER TABLE ESTUDIANTE</a:t>
              </a:r>
            </a:p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F9FAFB"/>
                  </a:solidFill>
                  <a:latin typeface="Roca One"/>
                  <a:ea typeface="Roca One"/>
                  <a:cs typeface="Roca One"/>
                  <a:sym typeface="Roca One"/>
                </a:rPr>
                <a:t>ADD correo VARCHAR(120),</a:t>
              </a:r>
            </a:p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F9FAFB"/>
                  </a:solidFill>
                  <a:latin typeface="Roca One"/>
                  <a:ea typeface="Roca One"/>
                  <a:cs typeface="Roca One"/>
                  <a:sym typeface="Roca One"/>
                </a:rPr>
                <a:t>    creado_el DATETIME2 DEFAULT SYSDATETIME(),</a:t>
              </a:r>
            </a:p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F9FAFB"/>
                  </a:solidFill>
                  <a:latin typeface="Roca One"/>
                  <a:ea typeface="Roca One"/>
                  <a:cs typeface="Roca One"/>
                  <a:sym typeface="Roca One"/>
                </a:rPr>
                <a:t>    modificado_el DATETIME2 NULL,</a:t>
              </a:r>
            </a:p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F9FAFB"/>
                  </a:solidFill>
                  <a:latin typeface="Roca One"/>
                  <a:ea typeface="Roca One"/>
                  <a:cs typeface="Roca One"/>
                  <a:sym typeface="Roca One"/>
                </a:rPr>
                <a:t>    borrado_el DATETIME2 NULL,</a:t>
              </a:r>
            </a:p>
            <a:p>
              <a:pPr algn="just">
                <a:lnSpc>
                  <a:spcPts val="2250"/>
                </a:lnSpc>
              </a:pPr>
              <a:r>
                <a:rPr lang="en-US" sz="1875">
                  <a:solidFill>
                    <a:srgbClr val="F9FAFB"/>
                  </a:solidFill>
                  <a:latin typeface="Roca One"/>
                  <a:ea typeface="Roca One"/>
                  <a:cs typeface="Roca One"/>
                  <a:sym typeface="Roca One"/>
                </a:rPr>
                <a:t>    estado BIT DEFAULT 1;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8956548" y="2619756"/>
            <a:ext cx="3154680" cy="645890"/>
            <a:chOff x="0" y="0"/>
            <a:chExt cx="4206240" cy="86118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06240" cy="861187"/>
            </a:xfrm>
            <a:custGeom>
              <a:avLst/>
              <a:gdLst/>
              <a:ahLst/>
              <a:cxnLst/>
              <a:rect r="r" b="b" t="t" l="l"/>
              <a:pathLst>
                <a:path h="861187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61187"/>
                  </a:lnTo>
                  <a:lnTo>
                    <a:pt x="0" y="8611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439" r="0" b="-24899"/>
              </a:stretch>
            </a:blipFill>
            <a:ln w="28575" cap="sq">
              <a:solidFill>
                <a:srgbClr val="1FB6C9"/>
              </a:solidFill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4206240" cy="870712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creado_el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8956548" y="3319272"/>
            <a:ext cx="3127248" cy="630936"/>
            <a:chOff x="0" y="0"/>
            <a:chExt cx="4169664" cy="84124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69664" cy="841248"/>
            </a:xfrm>
            <a:custGeom>
              <a:avLst/>
              <a:gdLst/>
              <a:ahLst/>
              <a:cxnLst/>
              <a:rect r="r" b="b" t="t" l="l"/>
              <a:pathLst>
                <a:path h="841248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578" r="0" b="-4657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4169664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667085"/>
                  </a:solidFill>
                  <a:latin typeface="Roca One"/>
                  <a:ea typeface="Roca One"/>
                  <a:cs typeface="Roca One"/>
                  <a:sym typeface="Roca One"/>
                </a:rPr>
                <a:t>Fecha y hora de creación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3208508" y="2619756"/>
            <a:ext cx="3154680" cy="645890"/>
            <a:chOff x="0" y="0"/>
            <a:chExt cx="4206240" cy="8611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206240" cy="861187"/>
            </a:xfrm>
            <a:custGeom>
              <a:avLst/>
              <a:gdLst/>
              <a:ahLst/>
              <a:cxnLst/>
              <a:rect r="r" b="b" t="t" l="l"/>
              <a:pathLst>
                <a:path h="861187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61187"/>
                  </a:lnTo>
                  <a:lnTo>
                    <a:pt x="0" y="8611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439" r="0" b="-24899"/>
              </a:stretch>
            </a:blipFill>
            <a:ln w="28575" cap="sq">
              <a:solidFill>
                <a:srgbClr val="1FB6C9"/>
              </a:solidFill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4206240" cy="870712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modificado_el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208508" y="3319272"/>
            <a:ext cx="3127248" cy="630936"/>
            <a:chOff x="0" y="0"/>
            <a:chExt cx="4169664" cy="84124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169664" cy="841248"/>
            </a:xfrm>
            <a:custGeom>
              <a:avLst/>
              <a:gdLst/>
              <a:ahLst/>
              <a:cxnLst/>
              <a:rect r="r" b="b" t="t" l="l"/>
              <a:pathLst>
                <a:path h="841248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578" r="0" b="-4657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4169664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667085"/>
                  </a:solidFill>
                  <a:latin typeface="Roca One"/>
                  <a:ea typeface="Roca One"/>
                  <a:cs typeface="Roca One"/>
                  <a:sym typeface="Roca One"/>
                </a:rPr>
                <a:t>Última modificación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956548" y="5362956"/>
            <a:ext cx="3154680" cy="645890"/>
            <a:chOff x="0" y="0"/>
            <a:chExt cx="4206240" cy="8611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206240" cy="861187"/>
            </a:xfrm>
            <a:custGeom>
              <a:avLst/>
              <a:gdLst/>
              <a:ahLst/>
              <a:cxnLst/>
              <a:rect r="r" b="b" t="t" l="l"/>
              <a:pathLst>
                <a:path h="861187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61187"/>
                  </a:lnTo>
                  <a:lnTo>
                    <a:pt x="0" y="8611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439" r="0" b="-24899"/>
              </a:stretch>
            </a:blipFill>
            <a:ln w="28575" cap="sq">
              <a:solidFill>
                <a:srgbClr val="1FB6C9"/>
              </a:solidFill>
              <a:prstDash val="solid"/>
              <a:miter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4206240" cy="870712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borrado_el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956548" y="6062472"/>
            <a:ext cx="3127248" cy="630936"/>
            <a:chOff x="0" y="0"/>
            <a:chExt cx="4169664" cy="84124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4169664" cy="841248"/>
            </a:xfrm>
            <a:custGeom>
              <a:avLst/>
              <a:gdLst/>
              <a:ahLst/>
              <a:cxnLst/>
              <a:rect r="r" b="b" t="t" l="l"/>
              <a:pathLst>
                <a:path h="841248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578" r="0" b="-4657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4169664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667085"/>
                  </a:solidFill>
                  <a:latin typeface="Roca One"/>
                  <a:ea typeface="Roca One"/>
                  <a:cs typeface="Roca One"/>
                  <a:sym typeface="Roca One"/>
                </a:rPr>
                <a:t>Momento del borrado lógico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208508" y="5362956"/>
            <a:ext cx="3154680" cy="645890"/>
            <a:chOff x="0" y="0"/>
            <a:chExt cx="4206240" cy="8611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206240" cy="861187"/>
            </a:xfrm>
            <a:custGeom>
              <a:avLst/>
              <a:gdLst/>
              <a:ahLst/>
              <a:cxnLst/>
              <a:rect r="r" b="b" t="t" l="l"/>
              <a:pathLst>
                <a:path h="861187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861187"/>
                  </a:lnTo>
                  <a:lnTo>
                    <a:pt x="0" y="86118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5439" r="0" b="-24899"/>
              </a:stretch>
            </a:blipFill>
            <a:ln w="28575" cap="sq">
              <a:solidFill>
                <a:srgbClr val="1FB6C9"/>
              </a:solidFill>
              <a:prstDash val="solid"/>
              <a:miter/>
            </a:ln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4206240" cy="870712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 marL="0" indent="0" lvl="0">
                <a:lnSpc>
                  <a:spcPts val="2700"/>
                </a:lnSpc>
                <a:spcBef>
                  <a:spcPct val="0"/>
                </a:spcBef>
              </a:pPr>
              <a:r>
                <a:rPr lang="en-US" sz="2250" strike="noStrike" u="none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estado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208508" y="6062472"/>
            <a:ext cx="3127248" cy="630936"/>
            <a:chOff x="0" y="0"/>
            <a:chExt cx="4169664" cy="84124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169664" cy="841248"/>
            </a:xfrm>
            <a:custGeom>
              <a:avLst/>
              <a:gdLst/>
              <a:ahLst/>
              <a:cxnLst/>
              <a:rect r="r" b="b" t="t" l="l"/>
              <a:pathLst>
                <a:path h="841248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41248"/>
                  </a:lnTo>
                  <a:lnTo>
                    <a:pt x="0" y="84124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6578" r="0" b="-46578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169664" cy="8412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667085"/>
                  </a:solidFill>
                  <a:latin typeface="Roca One"/>
                  <a:ea typeface="Roca One"/>
                  <a:cs typeface="Roca One"/>
                  <a:sym typeface="Roca One"/>
                </a:rPr>
                <a:t>1 = activo · 0 = inactivo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44168" y="7763256"/>
            <a:ext cx="2194560" cy="793271"/>
            <a:chOff x="0" y="0"/>
            <a:chExt cx="2926080" cy="105769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926080" cy="1057694"/>
            </a:xfrm>
            <a:custGeom>
              <a:avLst/>
              <a:gdLst/>
              <a:ahLst/>
              <a:cxnLst/>
              <a:rect r="r" b="b" t="t" l="l"/>
              <a:pathLst>
                <a:path h="1057694" w="2926080">
                  <a:moveTo>
                    <a:pt x="0" y="0"/>
                  </a:moveTo>
                  <a:lnTo>
                    <a:pt x="2926080" y="0"/>
                  </a:lnTo>
                  <a:lnTo>
                    <a:pt x="2926080" y="1057694"/>
                  </a:lnTo>
                  <a:lnTo>
                    <a:pt x="0" y="105769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3156" r="0" b="25346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9525"/>
              <a:ext cx="2926080" cy="10672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sz="2175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Criterio aplicado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3789980" y="7809889"/>
            <a:ext cx="12412980" cy="700004"/>
            <a:chOff x="0" y="0"/>
            <a:chExt cx="16550640" cy="93333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6550639" cy="933338"/>
            </a:xfrm>
            <a:custGeom>
              <a:avLst/>
              <a:gdLst/>
              <a:ahLst/>
              <a:cxnLst/>
              <a:rect r="r" b="b" t="t" l="l"/>
              <a:pathLst>
                <a:path h="933338" w="16550639">
                  <a:moveTo>
                    <a:pt x="0" y="0"/>
                  </a:moveTo>
                  <a:lnTo>
                    <a:pt x="16550639" y="0"/>
                  </a:lnTo>
                  <a:lnTo>
                    <a:pt x="16550639" y="933338"/>
                  </a:lnTo>
                  <a:lnTo>
                    <a:pt x="0" y="9333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03395" r="0" b="-28765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16550640" cy="9428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04"/>
                </a:lnSpc>
              </a:pPr>
              <a:r>
                <a:rPr lang="en-US" sz="1920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creado_el y estado se completan automáticamente mediante DEFAULT; modificado_el y borrado_el inician en NULL hasta que ocurra una modificación o un borrado lógico.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8005666" cy="450583"/>
            <a:chOff x="0" y="0"/>
            <a:chExt cx="51689163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1689164" cy="2909220"/>
            </a:xfrm>
            <a:custGeom>
              <a:avLst/>
              <a:gdLst/>
              <a:ahLst/>
              <a:cxnLst/>
              <a:rect r="r" b="b" t="t" l="l"/>
              <a:pathLst>
                <a:path h="2909220" w="51689164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50801324" y="456"/>
                  </a:cubicBezTo>
                  <a:cubicBezTo>
                    <a:pt x="51018070" y="10310"/>
                    <a:pt x="51222387" y="29972"/>
                    <a:pt x="51356574" y="95181"/>
                  </a:cubicBezTo>
                  <a:cubicBezTo>
                    <a:pt x="51612620" y="219611"/>
                    <a:pt x="51694395" y="452651"/>
                    <a:pt x="51688907" y="698175"/>
                  </a:cubicBezTo>
                  <a:cubicBezTo>
                    <a:pt x="51688907" y="698175"/>
                    <a:pt x="51645620" y="1006564"/>
                    <a:pt x="51653052" y="1242098"/>
                  </a:cubicBezTo>
                  <a:cubicBezTo>
                    <a:pt x="51660177" y="2083014"/>
                    <a:pt x="51667333" y="2278617"/>
                    <a:pt x="51667333" y="2278617"/>
                  </a:cubicBezTo>
                  <a:cubicBezTo>
                    <a:pt x="51650652" y="2494349"/>
                    <a:pt x="51536008" y="2704961"/>
                    <a:pt x="51339139" y="2816585"/>
                  </a:cubicBezTo>
                  <a:cubicBezTo>
                    <a:pt x="51188786" y="2901834"/>
                    <a:pt x="50990754" y="2916931"/>
                    <a:pt x="40595125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INSERT INTO y verificación inicial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Se insertaron los registros mínimos solicitados y se comprobó el funcionamiento de los valores DEFAULT.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416" y="2010013"/>
            <a:ext cx="11576304" cy="6884184"/>
            <a:chOff x="0" y="0"/>
            <a:chExt cx="15435072" cy="9178912"/>
          </a:xfrm>
        </p:grpSpPr>
        <p:sp>
          <p:nvSpPr>
            <p:cNvPr name="Freeform 14" id="14" descr="/mnt/data/04_datos_insertados.png"/>
            <p:cNvSpPr/>
            <p:nvPr/>
          </p:nvSpPr>
          <p:spPr>
            <a:xfrm flipH="false" flipV="false" rot="0">
              <a:off x="0" y="0"/>
              <a:ext cx="15435072" cy="9178925"/>
            </a:xfrm>
            <a:custGeom>
              <a:avLst/>
              <a:gdLst/>
              <a:ahLst/>
              <a:cxnLst/>
              <a:rect r="r" b="b" t="t" l="l"/>
              <a:pathLst>
                <a:path h="9178925" w="15435072">
                  <a:moveTo>
                    <a:pt x="0" y="0"/>
                  </a:moveTo>
                  <a:lnTo>
                    <a:pt x="15435072" y="0"/>
                  </a:lnTo>
                  <a:lnTo>
                    <a:pt x="15435072" y="9178925"/>
                  </a:lnTo>
                  <a:lnTo>
                    <a:pt x="0" y="91789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386816" y="2290572"/>
            <a:ext cx="1097280" cy="851573"/>
            <a:chOff x="0" y="0"/>
            <a:chExt cx="1463040" cy="113543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" cy="1135431"/>
            </a:xfrm>
            <a:custGeom>
              <a:avLst/>
              <a:gdLst/>
              <a:ahLst/>
              <a:cxnLst/>
              <a:rect r="r" b="b" t="t" l="l"/>
              <a:pathLst>
                <a:path h="113543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35431"/>
                  </a:lnTo>
                  <a:lnTo>
                    <a:pt x="0" y="11354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8963" t="0" r="-18963" b="30741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1463040" cy="1125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1FB6C9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8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4538960" y="2359152"/>
            <a:ext cx="2468880" cy="685800"/>
            <a:chOff x="0" y="0"/>
            <a:chExt cx="3291840" cy="9144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3291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estudiantes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386816" y="4073652"/>
            <a:ext cx="1097280" cy="851573"/>
            <a:chOff x="0" y="0"/>
            <a:chExt cx="1463040" cy="113543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63040" cy="1135431"/>
            </a:xfrm>
            <a:custGeom>
              <a:avLst/>
              <a:gdLst/>
              <a:ahLst/>
              <a:cxnLst/>
              <a:rect r="r" b="b" t="t" l="l"/>
              <a:pathLst>
                <a:path h="113543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35431"/>
                  </a:lnTo>
                  <a:lnTo>
                    <a:pt x="0" y="11354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8963" t="0" r="-18963" b="307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9525"/>
              <a:ext cx="1463040" cy="1125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FB6C9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5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538960" y="4142232"/>
            <a:ext cx="2468880" cy="685800"/>
            <a:chOff x="0" y="0"/>
            <a:chExt cx="3291840" cy="914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3291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docentes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386816" y="5856732"/>
            <a:ext cx="1097280" cy="851573"/>
            <a:chOff x="0" y="0"/>
            <a:chExt cx="1463040" cy="11354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63040" cy="1135431"/>
            </a:xfrm>
            <a:custGeom>
              <a:avLst/>
              <a:gdLst/>
              <a:ahLst/>
              <a:cxnLst/>
              <a:rect r="r" b="b" t="t" l="l"/>
              <a:pathLst>
                <a:path h="1135431" w="1463040">
                  <a:moveTo>
                    <a:pt x="0" y="0"/>
                  </a:moveTo>
                  <a:lnTo>
                    <a:pt x="1463040" y="0"/>
                  </a:lnTo>
                  <a:lnTo>
                    <a:pt x="1463040" y="1135431"/>
                  </a:lnTo>
                  <a:lnTo>
                    <a:pt x="0" y="113543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18963" t="0" r="-18963" b="30741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9525"/>
              <a:ext cx="1463040" cy="112590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4680"/>
                </a:lnSpc>
                <a:spcBef>
                  <a:spcPct val="0"/>
                </a:spcBef>
              </a:pPr>
              <a:r>
                <a:rPr lang="en-US" b="true" sz="3900" strike="noStrike" u="none">
                  <a:solidFill>
                    <a:srgbClr val="1FB6C9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6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4538960" y="5925312"/>
            <a:ext cx="2468880" cy="685800"/>
            <a:chOff x="0" y="0"/>
            <a:chExt cx="3291840" cy="9144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291840" cy="914400"/>
            </a:xfrm>
            <a:custGeom>
              <a:avLst/>
              <a:gdLst/>
              <a:ahLst/>
              <a:cxnLst/>
              <a:rect r="r" b="b" t="t" l="l"/>
              <a:pathLst>
                <a:path h="91440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46" r="0" b="-20146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3291840" cy="9144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cursos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304520" y="7612380"/>
            <a:ext cx="1645920" cy="427794"/>
            <a:chOff x="0" y="0"/>
            <a:chExt cx="2194560" cy="57039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94560" cy="570393"/>
            </a:xfrm>
            <a:custGeom>
              <a:avLst/>
              <a:gdLst/>
              <a:ahLst/>
              <a:cxnLst/>
              <a:rect r="r" b="b" t="t" l="l"/>
              <a:pathLst>
                <a:path h="570393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4890" r="0" b="-1504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19456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Verificación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3304520" y="8092440"/>
            <a:ext cx="3703320" cy="855391"/>
            <a:chOff x="0" y="0"/>
            <a:chExt cx="4937760" cy="114052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37760" cy="1140521"/>
            </a:xfrm>
            <a:custGeom>
              <a:avLst/>
              <a:gdLst/>
              <a:ahLst/>
              <a:cxnLst/>
              <a:rect r="r" b="b" t="t" l="l"/>
              <a:pathLst>
                <a:path h="1140521" w="4937760">
                  <a:moveTo>
                    <a:pt x="0" y="0"/>
                  </a:moveTo>
                  <a:lnTo>
                    <a:pt x="4937760" y="0"/>
                  </a:lnTo>
                  <a:lnTo>
                    <a:pt x="4937760" y="1140521"/>
                  </a:lnTo>
                  <a:lnTo>
                    <a:pt x="0" y="114052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8659" r="0" b="-3005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4937760" cy="11405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667085"/>
                  </a:solidFill>
                  <a:latin typeface="Roca One"/>
                  <a:ea typeface="Roca One"/>
                  <a:cs typeface="Roca One"/>
                  <a:sym typeface="Roca One"/>
                </a:rPr>
                <a:t>IDs automáticos · creado_el con fecha/hora · estado = 1 · modificado_el y borrado_el = NULL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8634316" cy="450583"/>
            <a:chOff x="0" y="0"/>
            <a:chExt cx="55748087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748091" cy="2909220"/>
            </a:xfrm>
            <a:custGeom>
              <a:avLst/>
              <a:gdLst/>
              <a:ahLst/>
              <a:cxnLst/>
              <a:rect r="r" b="b" t="t" l="l"/>
              <a:pathLst>
                <a:path h="2909220" w="55748091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54860248" y="456"/>
                  </a:cubicBezTo>
                  <a:cubicBezTo>
                    <a:pt x="55076998" y="10310"/>
                    <a:pt x="55281308" y="29972"/>
                    <a:pt x="55415501" y="95181"/>
                  </a:cubicBezTo>
                  <a:cubicBezTo>
                    <a:pt x="55671541" y="219611"/>
                    <a:pt x="55753322" y="452651"/>
                    <a:pt x="55747834" y="698175"/>
                  </a:cubicBezTo>
                  <a:cubicBezTo>
                    <a:pt x="55747834" y="698175"/>
                    <a:pt x="55704544" y="1006564"/>
                    <a:pt x="55711979" y="1242098"/>
                  </a:cubicBezTo>
                  <a:cubicBezTo>
                    <a:pt x="55719098" y="2083014"/>
                    <a:pt x="55726254" y="2278617"/>
                    <a:pt x="55726254" y="2278617"/>
                  </a:cubicBezTo>
                  <a:cubicBezTo>
                    <a:pt x="55709573" y="2494349"/>
                    <a:pt x="55594932" y="2704961"/>
                    <a:pt x="55398064" y="2816585"/>
                  </a:cubicBezTo>
                  <a:cubicBezTo>
                    <a:pt x="55247710" y="2901834"/>
                    <a:pt x="55049682" y="2916931"/>
                    <a:pt x="43827653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UPDATE y registro de modificaciones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Cada modificación actualiza también el campo modificado_el mediante SYSDATETIME().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416" y="2174691"/>
            <a:ext cx="11233404" cy="6691989"/>
            <a:chOff x="0" y="0"/>
            <a:chExt cx="14977872" cy="8922652"/>
          </a:xfrm>
        </p:grpSpPr>
        <p:sp>
          <p:nvSpPr>
            <p:cNvPr name="Freeform 14" id="14" descr="/mnt/data/05_update.png"/>
            <p:cNvSpPr/>
            <p:nvPr/>
          </p:nvSpPr>
          <p:spPr>
            <a:xfrm flipH="false" flipV="false" rot="0">
              <a:off x="0" y="0"/>
              <a:ext cx="14977872" cy="8922639"/>
            </a:xfrm>
            <a:custGeom>
              <a:avLst/>
              <a:gdLst/>
              <a:ahLst/>
              <a:cxnLst/>
              <a:rect r="r" b="b" t="t" l="l"/>
              <a:pathLst>
                <a:path h="8922639" w="14977872">
                  <a:moveTo>
                    <a:pt x="0" y="0"/>
                  </a:moveTo>
                  <a:lnTo>
                    <a:pt x="14977872" y="0"/>
                  </a:lnTo>
                  <a:lnTo>
                    <a:pt x="14977872" y="8922639"/>
                  </a:lnTo>
                  <a:lnTo>
                    <a:pt x="0" y="89226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2814935" y="2116455"/>
            <a:ext cx="4476750" cy="2830830"/>
            <a:chOff x="0" y="0"/>
            <a:chExt cx="5969000" cy="37744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969000" cy="3774440"/>
            </a:xfrm>
            <a:custGeom>
              <a:avLst/>
              <a:gdLst/>
              <a:ahLst/>
              <a:cxnLst/>
              <a:rect r="r" b="b" t="t" l="l"/>
              <a:pathLst>
                <a:path h="3774440" w="5969000">
                  <a:moveTo>
                    <a:pt x="0" y="110490"/>
                  </a:moveTo>
                  <a:cubicBezTo>
                    <a:pt x="0" y="49403"/>
                    <a:pt x="49403" y="0"/>
                    <a:pt x="110490" y="0"/>
                  </a:cubicBezTo>
                  <a:lnTo>
                    <a:pt x="5858510" y="0"/>
                  </a:lnTo>
                  <a:cubicBezTo>
                    <a:pt x="5919470" y="0"/>
                    <a:pt x="5969000" y="49403"/>
                    <a:pt x="5969000" y="110490"/>
                  </a:cubicBezTo>
                  <a:lnTo>
                    <a:pt x="5969000" y="3663950"/>
                  </a:lnTo>
                  <a:cubicBezTo>
                    <a:pt x="5969000" y="3724910"/>
                    <a:pt x="5919597" y="3774440"/>
                    <a:pt x="5858510" y="3774440"/>
                  </a:cubicBezTo>
                  <a:lnTo>
                    <a:pt x="110490" y="3774440"/>
                  </a:lnTo>
                  <a:cubicBezTo>
                    <a:pt x="49530" y="3774440"/>
                    <a:pt x="0" y="3725037"/>
                    <a:pt x="0" y="3663950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126212" y="2372868"/>
            <a:ext cx="3854196" cy="2318004"/>
            <a:chOff x="0" y="0"/>
            <a:chExt cx="5138928" cy="309067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138928" cy="3090672"/>
            </a:xfrm>
            <a:custGeom>
              <a:avLst/>
              <a:gdLst/>
              <a:ahLst/>
              <a:cxnLst/>
              <a:rect r="r" b="b" t="t" l="l"/>
              <a:pathLst>
                <a:path h="3090672" w="5138928">
                  <a:moveTo>
                    <a:pt x="0" y="0"/>
                  </a:moveTo>
                  <a:lnTo>
                    <a:pt x="5138928" y="0"/>
                  </a:lnTo>
                  <a:lnTo>
                    <a:pt x="5138928" y="3090672"/>
                  </a:lnTo>
                  <a:lnTo>
                    <a:pt x="0" y="309067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27164" t="0" r="-27164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138928" cy="3090672"/>
            </a:xfrm>
            <a:prstGeom prst="rect">
              <a:avLst/>
            </a:prstGeom>
          </p:spPr>
          <p:txBody>
            <a:bodyPr anchor="ctr" rtlCol="false" tIns="101600" lIns="101600" bIns="101600" rIns="101600"/>
            <a:lstStyle/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UPDATE ESTUDIANTE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 correo = 'nuevo.correo@correo.com',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modificado_el = SYSDATETIME()</a:t>
              </a:r>
            </a:p>
            <a:p>
              <a:pPr algn="l">
                <a:lnSpc>
                  <a:spcPts val="2070"/>
                </a:lnSpc>
              </a:pPr>
              <a:r>
                <a:rPr lang="en-US" sz="1725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 id_estudiante = 1;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910947" y="5655183"/>
            <a:ext cx="169926" cy="169926"/>
            <a:chOff x="0" y="0"/>
            <a:chExt cx="226568" cy="22656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22" id="22"/>
          <p:cNvGrpSpPr/>
          <p:nvPr/>
        </p:nvGrpSpPr>
        <p:grpSpPr>
          <a:xfrm rot="0">
            <a:off x="13222224" y="5513832"/>
            <a:ext cx="3881628" cy="507492"/>
            <a:chOff x="0" y="0"/>
            <a:chExt cx="5175504" cy="6766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175504" cy="676656"/>
            </a:xfrm>
            <a:custGeom>
              <a:avLst/>
              <a:gdLst/>
              <a:ahLst/>
              <a:cxnLst/>
              <a:rect r="r" b="b" t="t" l="l"/>
              <a:pathLst>
                <a:path h="67665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034" r="0" b="-99034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1755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Estudiante: correo actualizado.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910947" y="6313551"/>
            <a:ext cx="169926" cy="169926"/>
            <a:chOff x="0" y="0"/>
            <a:chExt cx="226568" cy="22656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3222224" y="6172200"/>
            <a:ext cx="3881628" cy="507492"/>
            <a:chOff x="0" y="0"/>
            <a:chExt cx="5175504" cy="67665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75504" cy="676656"/>
            </a:xfrm>
            <a:custGeom>
              <a:avLst/>
              <a:gdLst/>
              <a:ahLst/>
              <a:cxnLst/>
              <a:rect r="r" b="b" t="t" l="l"/>
              <a:pathLst>
                <a:path h="676656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676656"/>
                  </a:lnTo>
                  <a:lnTo>
                    <a:pt x="0" y="67665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9034" r="0" b="-99034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5175504" cy="6766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Docente: especialidad actualizada.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910947" y="6971919"/>
            <a:ext cx="169926" cy="169926"/>
            <a:chOff x="0" y="0"/>
            <a:chExt cx="226568" cy="2265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222224" y="6830568"/>
            <a:ext cx="3881628" cy="651864"/>
            <a:chOff x="0" y="0"/>
            <a:chExt cx="5175504" cy="86915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75504" cy="869152"/>
            </a:xfrm>
            <a:custGeom>
              <a:avLst/>
              <a:gdLst/>
              <a:ahLst/>
              <a:cxnLst/>
              <a:rect r="r" b="b" t="t" l="l"/>
              <a:pathLst>
                <a:path h="869152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869152"/>
                  </a:lnTo>
                  <a:lnTo>
                    <a:pt x="0" y="8691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7100" r="0" b="-5495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175504" cy="869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Curso: horas semanales actualizadas.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910947" y="7630287"/>
            <a:ext cx="169926" cy="169926"/>
            <a:chOff x="0" y="0"/>
            <a:chExt cx="226568" cy="226568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6568" cy="226568"/>
            </a:xfrm>
            <a:custGeom>
              <a:avLst/>
              <a:gdLst/>
              <a:ahLst/>
              <a:cxnLst/>
              <a:rect r="r" b="b" t="t" l="l"/>
              <a:pathLst>
                <a:path h="226568" w="226568">
                  <a:moveTo>
                    <a:pt x="0" y="113284"/>
                  </a:moveTo>
                  <a:cubicBezTo>
                    <a:pt x="0" y="50673"/>
                    <a:pt x="50673" y="0"/>
                    <a:pt x="113284" y="0"/>
                  </a:cubicBezTo>
                  <a:cubicBezTo>
                    <a:pt x="175895" y="0"/>
                    <a:pt x="226568" y="50673"/>
                    <a:pt x="226568" y="113284"/>
                  </a:cubicBezTo>
                  <a:cubicBezTo>
                    <a:pt x="226568" y="175895"/>
                    <a:pt x="175895" y="226568"/>
                    <a:pt x="113284" y="226568"/>
                  </a:cubicBezTo>
                  <a:cubicBezTo>
                    <a:pt x="50673" y="226568"/>
                    <a:pt x="0" y="175895"/>
                    <a:pt x="0" y="113284"/>
                  </a:cubicBezTo>
                  <a:close/>
                </a:path>
              </a:pathLst>
            </a:custGeom>
            <a:solidFill>
              <a:srgbClr val="1FB6C9"/>
            </a:solidFill>
            <a:ln w="19050" cap="sq">
              <a:solidFill>
                <a:srgbClr val="1FB6C9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13222224" y="7488936"/>
            <a:ext cx="3881628" cy="651864"/>
            <a:chOff x="0" y="0"/>
            <a:chExt cx="5175504" cy="86915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75504" cy="869152"/>
            </a:xfrm>
            <a:custGeom>
              <a:avLst/>
              <a:gdLst/>
              <a:ahLst/>
              <a:cxnLst/>
              <a:rect r="r" b="b" t="t" l="l"/>
              <a:pathLst>
                <a:path h="869152" w="5175504">
                  <a:moveTo>
                    <a:pt x="0" y="0"/>
                  </a:moveTo>
                  <a:lnTo>
                    <a:pt x="5175504" y="0"/>
                  </a:lnTo>
                  <a:lnTo>
                    <a:pt x="5175504" y="869152"/>
                  </a:lnTo>
                  <a:lnTo>
                    <a:pt x="0" y="8691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77100" r="0" b="-5495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175504" cy="869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24"/>
                </a:lnSpc>
              </a:pPr>
              <a:r>
                <a:rPr lang="en-US" sz="1770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modificado_el registra la fecha/hora del cambio.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3414616" cy="450583"/>
            <a:chOff x="0" y="0"/>
            <a:chExt cx="22046717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046719" cy="2909220"/>
            </a:xfrm>
            <a:custGeom>
              <a:avLst/>
              <a:gdLst/>
              <a:ahLst/>
              <a:cxnLst/>
              <a:rect r="r" b="b" t="t" l="l"/>
              <a:pathLst>
                <a:path h="2909220" w="22046719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21158876" y="456"/>
                  </a:cubicBezTo>
                  <a:cubicBezTo>
                    <a:pt x="21375624" y="10310"/>
                    <a:pt x="21579940" y="29972"/>
                    <a:pt x="21714127" y="95181"/>
                  </a:cubicBezTo>
                  <a:cubicBezTo>
                    <a:pt x="21970174" y="219611"/>
                    <a:pt x="22051949" y="452651"/>
                    <a:pt x="22046462" y="698175"/>
                  </a:cubicBezTo>
                  <a:cubicBezTo>
                    <a:pt x="22046462" y="698175"/>
                    <a:pt x="22003173" y="1006564"/>
                    <a:pt x="22010607" y="1242098"/>
                  </a:cubicBezTo>
                  <a:cubicBezTo>
                    <a:pt x="22017730" y="2083014"/>
                    <a:pt x="22024887" y="2278617"/>
                    <a:pt x="22024887" y="2278617"/>
                  </a:cubicBezTo>
                  <a:cubicBezTo>
                    <a:pt x="22008205" y="2494349"/>
                    <a:pt x="21893561" y="2704961"/>
                    <a:pt x="21696693" y="2816585"/>
                  </a:cubicBezTo>
                  <a:cubicBezTo>
                    <a:pt x="21546341" y="2901834"/>
                    <a:pt x="21348309" y="2916931"/>
                    <a:pt x="16987887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Borrado lógico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El registro permanece almacenado, pero queda marcado como inactivo.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416" y="2133276"/>
            <a:ext cx="11507724" cy="6843408"/>
            <a:chOff x="0" y="0"/>
            <a:chExt cx="15343632" cy="9124544"/>
          </a:xfrm>
        </p:grpSpPr>
        <p:sp>
          <p:nvSpPr>
            <p:cNvPr name="Freeform 14" id="14" descr="/mnt/data/06_borrado_logico.png"/>
            <p:cNvSpPr/>
            <p:nvPr/>
          </p:nvSpPr>
          <p:spPr>
            <a:xfrm flipH="false" flipV="false" rot="0">
              <a:off x="0" y="0"/>
              <a:ext cx="15343632" cy="9124569"/>
            </a:xfrm>
            <a:custGeom>
              <a:avLst/>
              <a:gdLst/>
              <a:ahLst/>
              <a:cxnLst/>
              <a:rect r="r" b="b" t="t" l="l"/>
              <a:pathLst>
                <a:path h="9124569" w="15343632">
                  <a:moveTo>
                    <a:pt x="0" y="0"/>
                  </a:moveTo>
                  <a:lnTo>
                    <a:pt x="15343632" y="0"/>
                  </a:lnTo>
                  <a:lnTo>
                    <a:pt x="15343632" y="9124569"/>
                  </a:lnTo>
                  <a:lnTo>
                    <a:pt x="0" y="9124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89255" y="2212467"/>
            <a:ext cx="4065270" cy="3036570"/>
            <a:chOff x="0" y="0"/>
            <a:chExt cx="5420360" cy="40487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20360" cy="4048760"/>
            </a:xfrm>
            <a:custGeom>
              <a:avLst/>
              <a:gdLst/>
              <a:ahLst/>
              <a:cxnLst/>
              <a:rect r="r" b="b" t="t" l="l"/>
              <a:pathLst>
                <a:path h="4048760" w="5420360">
                  <a:moveTo>
                    <a:pt x="0" y="110363"/>
                  </a:moveTo>
                  <a:cubicBezTo>
                    <a:pt x="0" y="49403"/>
                    <a:pt x="49403" y="0"/>
                    <a:pt x="110363" y="0"/>
                  </a:cubicBezTo>
                  <a:lnTo>
                    <a:pt x="5309997" y="0"/>
                  </a:lnTo>
                  <a:cubicBezTo>
                    <a:pt x="5370957" y="0"/>
                    <a:pt x="5420360" y="49403"/>
                    <a:pt x="5420360" y="110363"/>
                  </a:cubicBezTo>
                  <a:lnTo>
                    <a:pt x="5420360" y="3938397"/>
                  </a:lnTo>
                  <a:cubicBezTo>
                    <a:pt x="5420360" y="3999357"/>
                    <a:pt x="5370957" y="4048760"/>
                    <a:pt x="5309997" y="4048760"/>
                  </a:cubicBezTo>
                  <a:lnTo>
                    <a:pt x="110363" y="4048760"/>
                  </a:lnTo>
                  <a:cubicBezTo>
                    <a:pt x="49403" y="4048760"/>
                    <a:pt x="0" y="3999357"/>
                    <a:pt x="0" y="3938397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400532" y="2468880"/>
            <a:ext cx="3442716" cy="2523744"/>
            <a:chOff x="0" y="0"/>
            <a:chExt cx="4590288" cy="336499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90288" cy="3364992"/>
            </a:xfrm>
            <a:custGeom>
              <a:avLst/>
              <a:gdLst/>
              <a:ahLst/>
              <a:cxnLst/>
              <a:rect r="r" b="b" t="t" l="l"/>
              <a:pathLst>
                <a:path h="3364992" w="4590288">
                  <a:moveTo>
                    <a:pt x="0" y="0"/>
                  </a:moveTo>
                  <a:lnTo>
                    <a:pt x="4590288" y="0"/>
                  </a:lnTo>
                  <a:lnTo>
                    <a:pt x="4590288" y="3364992"/>
                  </a:lnTo>
                  <a:lnTo>
                    <a:pt x="0" y="336499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44055" t="0" r="-44055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590288" cy="3364992"/>
            </a:xfrm>
            <a:prstGeom prst="rect">
              <a:avLst/>
            </a:prstGeom>
          </p:spPr>
          <p:txBody>
            <a:bodyPr anchor="ctr" rtlCol="false" tIns="165100" lIns="165100" bIns="165100" rIns="165100"/>
            <a:lstStyle/>
            <a:p>
              <a:pPr algn="l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UPDATE DOCENTE</a:t>
              </a:r>
            </a:p>
            <a:p>
              <a:pPr algn="l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SET estado = 0,</a:t>
              </a:r>
            </a:p>
            <a:p>
              <a:pPr algn="l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borrado_el = SYSDATETIME(),</a:t>
              </a:r>
            </a:p>
            <a:p>
              <a:pPr algn="l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    modificado_el = SYSDATETIME()</a:t>
              </a:r>
            </a:p>
            <a:p>
              <a:pPr algn="l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 id_docente = 2;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441680" y="6076188"/>
            <a:ext cx="1645920" cy="466409"/>
            <a:chOff x="0" y="0"/>
            <a:chExt cx="2194560" cy="6218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" cy="621878"/>
            </a:xfrm>
            <a:custGeom>
              <a:avLst/>
              <a:gdLst/>
              <a:ahLst/>
              <a:cxnLst/>
              <a:rect r="r" b="b" t="t" l="l"/>
              <a:pathLst>
                <a:path h="621878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621878"/>
                  </a:lnTo>
                  <a:lnTo>
                    <a:pt x="0" y="62187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060" r="0" b="-8461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2194560" cy="621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b="true" sz="2129">
                  <a:solidFill>
                    <a:srgbClr val="1FB6C9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Resultado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441680" y="6611112"/>
            <a:ext cx="3223260" cy="987552"/>
            <a:chOff x="0" y="0"/>
            <a:chExt cx="4297680" cy="13167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9768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596" r="0" b="-135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9525"/>
              <a:ext cx="4297680" cy="130721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estado = 0</a:t>
              </a:r>
            </a:p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borrado_el = fecha/hora</a:t>
              </a:r>
            </a:p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El registro aún existe.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6253066" cy="450583"/>
            <a:chOff x="0" y="0"/>
            <a:chExt cx="40373374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373377" cy="2909220"/>
            </a:xfrm>
            <a:custGeom>
              <a:avLst/>
              <a:gdLst/>
              <a:ahLst/>
              <a:cxnLst/>
              <a:rect r="r" b="b" t="t" l="l"/>
              <a:pathLst>
                <a:path h="2909220" w="40373377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39485534" y="456"/>
                  </a:cubicBezTo>
                  <a:cubicBezTo>
                    <a:pt x="39702284" y="10310"/>
                    <a:pt x="39906597" y="29972"/>
                    <a:pt x="40040787" y="95181"/>
                  </a:cubicBezTo>
                  <a:cubicBezTo>
                    <a:pt x="40296830" y="219611"/>
                    <a:pt x="40378608" y="452651"/>
                    <a:pt x="40373120" y="698175"/>
                  </a:cubicBezTo>
                  <a:cubicBezTo>
                    <a:pt x="40373120" y="698175"/>
                    <a:pt x="40329830" y="1006564"/>
                    <a:pt x="40337265" y="1242098"/>
                  </a:cubicBezTo>
                  <a:cubicBezTo>
                    <a:pt x="40344387" y="2083014"/>
                    <a:pt x="40351543" y="2278617"/>
                    <a:pt x="40351543" y="2278617"/>
                  </a:cubicBezTo>
                  <a:cubicBezTo>
                    <a:pt x="40334862" y="2494349"/>
                    <a:pt x="40220218" y="2704961"/>
                    <a:pt x="40023349" y="2816585"/>
                  </a:cubicBezTo>
                  <a:cubicBezTo>
                    <a:pt x="39872999" y="2901834"/>
                    <a:pt x="39674967" y="2916931"/>
                    <a:pt x="31583235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Borrado físico con DELETE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A diferencia del borrado lógico, el registro deja de existir en la tabla.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416" y="2133276"/>
            <a:ext cx="11507724" cy="6843408"/>
            <a:chOff x="0" y="0"/>
            <a:chExt cx="15343632" cy="9124544"/>
          </a:xfrm>
        </p:grpSpPr>
        <p:sp>
          <p:nvSpPr>
            <p:cNvPr name="Freeform 14" id="14" descr="/mnt/data/07_delete.png"/>
            <p:cNvSpPr/>
            <p:nvPr/>
          </p:nvSpPr>
          <p:spPr>
            <a:xfrm flipH="false" flipV="false" rot="0">
              <a:off x="0" y="0"/>
              <a:ext cx="15343632" cy="9124569"/>
            </a:xfrm>
            <a:custGeom>
              <a:avLst/>
              <a:gdLst/>
              <a:ahLst/>
              <a:cxnLst/>
              <a:rect r="r" b="b" t="t" l="l"/>
              <a:pathLst>
                <a:path h="9124569" w="15343632">
                  <a:moveTo>
                    <a:pt x="0" y="0"/>
                  </a:moveTo>
                  <a:lnTo>
                    <a:pt x="15343632" y="0"/>
                  </a:lnTo>
                  <a:lnTo>
                    <a:pt x="15343632" y="9124569"/>
                  </a:lnTo>
                  <a:lnTo>
                    <a:pt x="0" y="91245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3089255" y="2390775"/>
            <a:ext cx="4065270" cy="1870710"/>
            <a:chOff x="0" y="0"/>
            <a:chExt cx="5420360" cy="249428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20360" cy="2494280"/>
            </a:xfrm>
            <a:custGeom>
              <a:avLst/>
              <a:gdLst/>
              <a:ahLst/>
              <a:cxnLst/>
              <a:rect r="r" b="b" t="t" l="l"/>
              <a:pathLst>
                <a:path h="2494280" w="5420360">
                  <a:moveTo>
                    <a:pt x="0" y="110871"/>
                  </a:moveTo>
                  <a:cubicBezTo>
                    <a:pt x="0" y="49657"/>
                    <a:pt x="49657" y="0"/>
                    <a:pt x="110871" y="0"/>
                  </a:cubicBezTo>
                  <a:lnTo>
                    <a:pt x="5309489" y="0"/>
                  </a:lnTo>
                  <a:cubicBezTo>
                    <a:pt x="5370703" y="0"/>
                    <a:pt x="5420360" y="49657"/>
                    <a:pt x="5420360" y="110871"/>
                  </a:cubicBezTo>
                  <a:lnTo>
                    <a:pt x="5420360" y="2383409"/>
                  </a:lnTo>
                  <a:cubicBezTo>
                    <a:pt x="5420360" y="2444623"/>
                    <a:pt x="5370703" y="2494280"/>
                    <a:pt x="5309489" y="2494280"/>
                  </a:cubicBezTo>
                  <a:lnTo>
                    <a:pt x="110871" y="2494280"/>
                  </a:lnTo>
                  <a:cubicBezTo>
                    <a:pt x="49657" y="2494280"/>
                    <a:pt x="0" y="2444623"/>
                    <a:pt x="0" y="2383409"/>
                  </a:cubicBezTo>
                  <a:close/>
                </a:path>
              </a:pathLst>
            </a:custGeom>
            <a:solidFill>
              <a:srgbClr val="111827"/>
            </a:solidFill>
            <a:ln w="19050" cap="sq">
              <a:solidFill>
                <a:srgbClr val="111827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3400532" y="2647188"/>
            <a:ext cx="3442716" cy="1357884"/>
            <a:chOff x="0" y="0"/>
            <a:chExt cx="4590288" cy="181051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590288" cy="1810512"/>
            </a:xfrm>
            <a:custGeom>
              <a:avLst/>
              <a:gdLst/>
              <a:ahLst/>
              <a:cxnLst/>
              <a:rect r="r" b="b" t="t" l="l"/>
              <a:pathLst>
                <a:path h="1810512" w="4590288">
                  <a:moveTo>
                    <a:pt x="0" y="0"/>
                  </a:moveTo>
                  <a:lnTo>
                    <a:pt x="4590288" y="0"/>
                  </a:lnTo>
                  <a:lnTo>
                    <a:pt x="4590288" y="1810512"/>
                  </a:lnTo>
                  <a:lnTo>
                    <a:pt x="0" y="181051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605" t="0" r="-605" b="0"/>
              </a:stretch>
            </a:blipFill>
            <a:ln w="28575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4590288" cy="1810512"/>
            </a:xfrm>
            <a:prstGeom prst="rect">
              <a:avLst/>
            </a:prstGeom>
          </p:spPr>
          <p:txBody>
            <a:bodyPr anchor="ctr" rtlCol="false" tIns="152400" lIns="152400" bIns="152400" rIns="152400"/>
            <a:lstStyle/>
            <a:p>
              <a:pPr algn="l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DELETE FROM ESTUDIANTE</a:t>
              </a:r>
            </a:p>
            <a:p>
              <a:pPr algn="l" marL="0" indent="0" lvl="0">
                <a:lnSpc>
                  <a:spcPts val="2070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F9FAFB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WHERE id_estudiante = 8;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469112" y="5483733"/>
            <a:ext cx="2377440" cy="466409"/>
            <a:chOff x="0" y="0"/>
            <a:chExt cx="3169920" cy="62187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69920" cy="621878"/>
            </a:xfrm>
            <a:custGeom>
              <a:avLst/>
              <a:gdLst/>
              <a:ahLst/>
              <a:cxnLst/>
              <a:rect r="r" b="b" t="t" l="l"/>
              <a:pathLst>
                <a:path h="621878" w="3169920">
                  <a:moveTo>
                    <a:pt x="0" y="0"/>
                  </a:moveTo>
                  <a:lnTo>
                    <a:pt x="3169920" y="0"/>
                  </a:lnTo>
                  <a:lnTo>
                    <a:pt x="3169920" y="621878"/>
                  </a:lnTo>
                  <a:lnTo>
                    <a:pt x="0" y="62187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9050" r="19230" b="-2139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169920" cy="62187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b="true" sz="2129">
                  <a:solidFill>
                    <a:srgbClr val="1FB6C9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Comprobación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3469112" y="5952744"/>
            <a:ext cx="3154680" cy="987552"/>
            <a:chOff x="0" y="0"/>
            <a:chExt cx="4206240" cy="13167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206240" cy="1316736"/>
            </a:xfrm>
            <a:custGeom>
              <a:avLst/>
              <a:gdLst/>
              <a:ahLst/>
              <a:cxnLst/>
              <a:rect r="r" b="b" t="t" l="l"/>
              <a:pathLst>
                <a:path h="1316736" w="4206240">
                  <a:moveTo>
                    <a:pt x="0" y="0"/>
                  </a:moveTo>
                  <a:lnTo>
                    <a:pt x="4206240" y="0"/>
                  </a:lnTo>
                  <a:lnTo>
                    <a:pt x="420624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2243" r="0" b="-1224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20624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El SELECT posterior para id_estudiante = 8 devuelve 0 filas.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7605616" cy="450583"/>
            <a:chOff x="0" y="0"/>
            <a:chExt cx="49106211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9106211" cy="2909220"/>
            </a:xfrm>
            <a:custGeom>
              <a:avLst/>
              <a:gdLst/>
              <a:ahLst/>
              <a:cxnLst/>
              <a:rect r="r" b="b" t="t" l="l"/>
              <a:pathLst>
                <a:path h="2909220" w="49106211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8218372" y="456"/>
                  </a:cubicBezTo>
                  <a:cubicBezTo>
                    <a:pt x="48435118" y="10310"/>
                    <a:pt x="48639434" y="29972"/>
                    <a:pt x="48773621" y="95181"/>
                  </a:cubicBezTo>
                  <a:cubicBezTo>
                    <a:pt x="49029668" y="219611"/>
                    <a:pt x="49111443" y="452651"/>
                    <a:pt x="49105955" y="698175"/>
                  </a:cubicBezTo>
                  <a:cubicBezTo>
                    <a:pt x="49105955" y="698175"/>
                    <a:pt x="49062667" y="1006564"/>
                    <a:pt x="49070102" y="1242098"/>
                  </a:cubicBezTo>
                  <a:cubicBezTo>
                    <a:pt x="49077225" y="2083014"/>
                    <a:pt x="49084381" y="2278617"/>
                    <a:pt x="49084381" y="2278617"/>
                  </a:cubicBezTo>
                  <a:cubicBezTo>
                    <a:pt x="49067700" y="2494349"/>
                    <a:pt x="48953055" y="2704961"/>
                    <a:pt x="48756187" y="2816585"/>
                  </a:cubicBezTo>
                  <a:cubicBezTo>
                    <a:pt x="48605836" y="2901834"/>
                    <a:pt x="48407805" y="2916931"/>
                    <a:pt x="38538063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Borrado lógico vs. borrado físico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Ambas operaciones cumplen propósitos diferentes dentro de la gestión de datos.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04772" y="2633472"/>
            <a:ext cx="4526280" cy="687076"/>
            <a:chOff x="0" y="0"/>
            <a:chExt cx="6035040" cy="9161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35040" cy="916102"/>
            </a:xfrm>
            <a:custGeom>
              <a:avLst/>
              <a:gdLst/>
              <a:ahLst/>
              <a:cxnLst/>
              <a:rect r="r" b="b" t="t" l="l"/>
              <a:pathLst>
                <a:path h="91610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6102"/>
                  </a:lnTo>
                  <a:lnTo>
                    <a:pt x="0" y="9161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427" r="0" b="-63297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6035040" cy="906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Borrado lógico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720840" y="2743200"/>
            <a:ext cx="1303020" cy="541437"/>
            <a:chOff x="0" y="0"/>
            <a:chExt cx="1737360" cy="72191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737360" cy="721916"/>
            </a:xfrm>
            <a:custGeom>
              <a:avLst/>
              <a:gdLst/>
              <a:ahLst/>
              <a:cxnLst/>
              <a:rect r="r" b="b" t="t" l="l"/>
              <a:pathLst>
                <a:path h="7219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21916"/>
                  </a:lnTo>
                  <a:lnTo>
                    <a:pt x="0" y="7219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093" r="0" b="3030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737360" cy="731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1FB6C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UPDATE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3771900"/>
            <a:ext cx="1988820" cy="411242"/>
            <a:chOff x="0" y="0"/>
            <a:chExt cx="2651760" cy="54832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51760" cy="548322"/>
            </a:xfrm>
            <a:custGeom>
              <a:avLst/>
              <a:gdLst/>
              <a:ahLst/>
              <a:cxnLst/>
              <a:rect r="r" b="b" t="t" l="l"/>
              <a:pathLst>
                <a:path h="54832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38" r="0" b="-40925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2651760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66708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Registro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3662172" y="3771900"/>
            <a:ext cx="4389120" cy="576072"/>
            <a:chOff x="0" y="0"/>
            <a:chExt cx="5852160" cy="76809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58521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Permanece en la tabla</a:t>
              </a:r>
            </a:p>
          </p:txBody>
        </p:sp>
      </p:grpSp>
      <p:sp>
        <p:nvSpPr>
          <p:cNvPr name="AutoShape 25" id="25"/>
          <p:cNvSpPr/>
          <p:nvPr/>
        </p:nvSpPr>
        <p:spPr>
          <a:xfrm rot="10140">
            <a:off x="1636385" y="4521518"/>
            <a:ext cx="646559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645920" y="4841748"/>
            <a:ext cx="1988820" cy="411242"/>
            <a:chOff x="0" y="0"/>
            <a:chExt cx="2651760" cy="54832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51760" cy="548322"/>
            </a:xfrm>
            <a:custGeom>
              <a:avLst/>
              <a:gdLst/>
              <a:ahLst/>
              <a:cxnLst/>
              <a:rect r="r" b="b" t="t" l="l"/>
              <a:pathLst>
                <a:path h="54832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38" r="0" b="-4092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2651760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66708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estado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3662172" y="4841748"/>
            <a:ext cx="4389120" cy="576072"/>
            <a:chOff x="0" y="0"/>
            <a:chExt cx="5852160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58521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Cambia de 1 a 0</a:t>
              </a:r>
            </a:p>
          </p:txBody>
        </p:sp>
      </p:grpSp>
      <p:sp>
        <p:nvSpPr>
          <p:cNvPr name="AutoShape 32" id="32"/>
          <p:cNvSpPr/>
          <p:nvPr/>
        </p:nvSpPr>
        <p:spPr>
          <a:xfrm rot="10140">
            <a:off x="1636385" y="5591366"/>
            <a:ext cx="646559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645920" y="5911596"/>
            <a:ext cx="1988820" cy="411242"/>
            <a:chOff x="0" y="0"/>
            <a:chExt cx="2651760" cy="5483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51760" cy="548322"/>
            </a:xfrm>
            <a:custGeom>
              <a:avLst/>
              <a:gdLst/>
              <a:ahLst/>
              <a:cxnLst/>
              <a:rect r="r" b="b" t="t" l="l"/>
              <a:pathLst>
                <a:path h="54832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38" r="0" b="-4092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651760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66708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borrado_el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3662172" y="5911596"/>
            <a:ext cx="4389120" cy="576072"/>
            <a:chOff x="0" y="0"/>
            <a:chExt cx="5852160" cy="76809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58521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Registra fecha y hora</a:t>
              </a:r>
            </a:p>
          </p:txBody>
        </p:sp>
      </p:grpSp>
      <p:sp>
        <p:nvSpPr>
          <p:cNvPr name="AutoShape 39" id="39"/>
          <p:cNvSpPr/>
          <p:nvPr/>
        </p:nvSpPr>
        <p:spPr>
          <a:xfrm rot="10140">
            <a:off x="1636385" y="6661214"/>
            <a:ext cx="646559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645920" y="6981444"/>
            <a:ext cx="1988820" cy="411242"/>
            <a:chOff x="0" y="0"/>
            <a:chExt cx="2651760" cy="54832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51760" cy="548322"/>
            </a:xfrm>
            <a:custGeom>
              <a:avLst/>
              <a:gdLst/>
              <a:ahLst/>
              <a:cxnLst/>
              <a:rect r="r" b="b" t="t" l="l"/>
              <a:pathLst>
                <a:path h="54832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38" r="0" b="-40925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2651760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66708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Recuperación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3662172" y="6981444"/>
            <a:ext cx="4389120" cy="576072"/>
            <a:chOff x="0" y="0"/>
            <a:chExt cx="5852160" cy="76809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8521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Es posible reactivarlo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9944100" y="2633472"/>
            <a:ext cx="4526280" cy="687076"/>
            <a:chOff x="0" y="0"/>
            <a:chExt cx="6035040" cy="91610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35040" cy="916102"/>
            </a:xfrm>
            <a:custGeom>
              <a:avLst/>
              <a:gdLst/>
              <a:ahLst/>
              <a:cxnLst/>
              <a:rect r="r" b="b" t="t" l="l"/>
              <a:pathLst>
                <a:path h="916102" w="6035040">
                  <a:moveTo>
                    <a:pt x="0" y="0"/>
                  </a:moveTo>
                  <a:lnTo>
                    <a:pt x="6035040" y="0"/>
                  </a:lnTo>
                  <a:lnTo>
                    <a:pt x="6035040" y="916102"/>
                  </a:lnTo>
                  <a:lnTo>
                    <a:pt x="0" y="91610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427" r="0" b="-63297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9525"/>
              <a:ext cx="6035040" cy="9065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Borrado físico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5060168" y="2743200"/>
            <a:ext cx="1303020" cy="541437"/>
            <a:chOff x="0" y="0"/>
            <a:chExt cx="1737360" cy="721916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737360" cy="721916"/>
            </a:xfrm>
            <a:custGeom>
              <a:avLst/>
              <a:gdLst/>
              <a:ahLst/>
              <a:cxnLst/>
              <a:rect r="r" b="b" t="t" l="l"/>
              <a:pathLst>
                <a:path h="721916" w="1737360">
                  <a:moveTo>
                    <a:pt x="0" y="0"/>
                  </a:moveTo>
                  <a:lnTo>
                    <a:pt x="1737360" y="0"/>
                  </a:lnTo>
                  <a:lnTo>
                    <a:pt x="1737360" y="721916"/>
                  </a:lnTo>
                  <a:lnTo>
                    <a:pt x="0" y="7219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4093" r="0" b="3030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1737360" cy="731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DC2626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DELETE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9985248" y="3771900"/>
            <a:ext cx="1988820" cy="411242"/>
            <a:chOff x="0" y="0"/>
            <a:chExt cx="2651760" cy="54832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651760" cy="548322"/>
            </a:xfrm>
            <a:custGeom>
              <a:avLst/>
              <a:gdLst/>
              <a:ahLst/>
              <a:cxnLst/>
              <a:rect r="r" b="b" t="t" l="l"/>
              <a:pathLst>
                <a:path h="54832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38" r="0" b="-4092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651760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66708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Registro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001500" y="3771900"/>
            <a:ext cx="4389120" cy="576072"/>
            <a:chOff x="0" y="0"/>
            <a:chExt cx="5852160" cy="768096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58521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Se elimina de la tabla</a:t>
              </a:r>
            </a:p>
          </p:txBody>
        </p:sp>
      </p:grpSp>
      <p:sp>
        <p:nvSpPr>
          <p:cNvPr name="AutoShape 58" id="58"/>
          <p:cNvSpPr/>
          <p:nvPr/>
        </p:nvSpPr>
        <p:spPr>
          <a:xfrm rot="10140">
            <a:off x="9975713" y="4521518"/>
            <a:ext cx="646559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9" id="59"/>
          <p:cNvGrpSpPr/>
          <p:nvPr/>
        </p:nvGrpSpPr>
        <p:grpSpPr>
          <a:xfrm rot="0">
            <a:off x="9985248" y="4841748"/>
            <a:ext cx="1988820" cy="411242"/>
            <a:chOff x="0" y="0"/>
            <a:chExt cx="2651760" cy="54832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51760" cy="548322"/>
            </a:xfrm>
            <a:custGeom>
              <a:avLst/>
              <a:gdLst/>
              <a:ahLst/>
              <a:cxnLst/>
              <a:rect r="r" b="b" t="t" l="l"/>
              <a:pathLst>
                <a:path h="54832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38" r="0" b="-409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651760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66708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estado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001500" y="4841748"/>
            <a:ext cx="4389120" cy="576072"/>
            <a:chOff x="0" y="0"/>
            <a:chExt cx="5852160" cy="7680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58521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Ya no aplica al registro</a:t>
              </a:r>
            </a:p>
          </p:txBody>
        </p:sp>
      </p:grpSp>
      <p:sp>
        <p:nvSpPr>
          <p:cNvPr name="AutoShape 65" id="65"/>
          <p:cNvSpPr/>
          <p:nvPr/>
        </p:nvSpPr>
        <p:spPr>
          <a:xfrm rot="10140">
            <a:off x="9975713" y="5591366"/>
            <a:ext cx="646559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6" id="66"/>
          <p:cNvGrpSpPr/>
          <p:nvPr/>
        </p:nvGrpSpPr>
        <p:grpSpPr>
          <a:xfrm rot="0">
            <a:off x="9985248" y="5911596"/>
            <a:ext cx="1988820" cy="411242"/>
            <a:chOff x="0" y="0"/>
            <a:chExt cx="2651760" cy="548322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51760" cy="548322"/>
            </a:xfrm>
            <a:custGeom>
              <a:avLst/>
              <a:gdLst/>
              <a:ahLst/>
              <a:cxnLst/>
              <a:rect r="r" b="b" t="t" l="l"/>
              <a:pathLst>
                <a:path h="54832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38" r="0" b="-40925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2651760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66708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borrado_el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001500" y="5911596"/>
            <a:ext cx="4389120" cy="576072"/>
            <a:chOff x="0" y="0"/>
            <a:chExt cx="5852160" cy="768096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58521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No es necesario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 rot="10140">
            <a:off x="9975713" y="6661214"/>
            <a:ext cx="6465599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3" id="73"/>
          <p:cNvGrpSpPr/>
          <p:nvPr/>
        </p:nvGrpSpPr>
        <p:grpSpPr>
          <a:xfrm rot="0">
            <a:off x="9985248" y="6981444"/>
            <a:ext cx="1988820" cy="411242"/>
            <a:chOff x="0" y="0"/>
            <a:chExt cx="2651760" cy="548322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651760" cy="548322"/>
            </a:xfrm>
            <a:custGeom>
              <a:avLst/>
              <a:gdLst/>
              <a:ahLst/>
              <a:cxnLst/>
              <a:rect r="r" b="b" t="t" l="l"/>
              <a:pathLst>
                <a:path h="548322" w="2651760">
                  <a:moveTo>
                    <a:pt x="0" y="0"/>
                  </a:moveTo>
                  <a:lnTo>
                    <a:pt x="2651760" y="0"/>
                  </a:lnTo>
                  <a:lnTo>
                    <a:pt x="2651760" y="548322"/>
                  </a:lnTo>
                  <a:lnTo>
                    <a:pt x="0" y="54832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47538" r="0" b="-4092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2651760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667085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Recuperación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12001500" y="6981444"/>
            <a:ext cx="4389120" cy="576072"/>
            <a:chOff x="0" y="0"/>
            <a:chExt cx="5852160" cy="76809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852160" cy="768096"/>
            </a:xfrm>
            <a:custGeom>
              <a:avLst/>
              <a:gdLst/>
              <a:ahLst/>
              <a:cxnLst/>
              <a:rect r="r" b="b" t="t" l="l"/>
              <a:pathLst>
                <a:path h="768096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8457" r="0" b="-98457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585216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Requiere respaldo/restauración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11834716" cy="450583"/>
            <a:chOff x="0" y="0"/>
            <a:chExt cx="76411701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6411704" cy="2909220"/>
            </a:xfrm>
            <a:custGeom>
              <a:avLst/>
              <a:gdLst/>
              <a:ahLst/>
              <a:cxnLst/>
              <a:rect r="r" b="b" t="t" l="l"/>
              <a:pathLst>
                <a:path h="2909220" w="76411704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75523861" y="456"/>
                  </a:cubicBezTo>
                  <a:cubicBezTo>
                    <a:pt x="75740611" y="10310"/>
                    <a:pt x="75944921" y="29972"/>
                    <a:pt x="76079114" y="95181"/>
                  </a:cubicBezTo>
                  <a:cubicBezTo>
                    <a:pt x="76335161" y="219611"/>
                    <a:pt x="76416936" y="452651"/>
                    <a:pt x="76411448" y="698175"/>
                  </a:cubicBezTo>
                  <a:cubicBezTo>
                    <a:pt x="76411448" y="698175"/>
                    <a:pt x="76368157" y="1006564"/>
                    <a:pt x="76375592" y="1242098"/>
                  </a:cubicBezTo>
                  <a:cubicBezTo>
                    <a:pt x="76382711" y="2083014"/>
                    <a:pt x="76389874" y="2278617"/>
                    <a:pt x="76389874" y="2278617"/>
                  </a:cubicBezTo>
                  <a:cubicBezTo>
                    <a:pt x="76373186" y="2494349"/>
                    <a:pt x="76258545" y="2704961"/>
                    <a:pt x="76061677" y="2816585"/>
                  </a:cubicBezTo>
                  <a:cubicBezTo>
                    <a:pt x="75911323" y="2901834"/>
                    <a:pt x="75713295" y="2916931"/>
                    <a:pt x="60284153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Git y GitHub: rama personal e historial de commits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El trabajo se realizó en una rama propia y se registró el avance del laboratorio en commits separados.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2416" y="2926356"/>
            <a:ext cx="8010144" cy="4763462"/>
            <a:chOff x="0" y="0"/>
            <a:chExt cx="10680192" cy="6351283"/>
          </a:xfrm>
        </p:grpSpPr>
        <p:sp>
          <p:nvSpPr>
            <p:cNvPr name="Freeform 14" id="14" descr="/mnt/data/08_historial_commits.png"/>
            <p:cNvSpPr/>
            <p:nvPr/>
          </p:nvSpPr>
          <p:spPr>
            <a:xfrm flipH="false" flipV="false" rot="0">
              <a:off x="0" y="0"/>
              <a:ext cx="10680192" cy="6351270"/>
            </a:xfrm>
            <a:custGeom>
              <a:avLst/>
              <a:gdLst/>
              <a:ahLst/>
              <a:cxnLst/>
              <a:rect r="r" b="b" t="t" l="l"/>
              <a:pathLst>
                <a:path h="6351270" w="10680192">
                  <a:moveTo>
                    <a:pt x="0" y="0"/>
                  </a:moveTo>
                  <a:lnTo>
                    <a:pt x="10680192" y="0"/>
                  </a:lnTo>
                  <a:lnTo>
                    <a:pt x="10680192" y="6351270"/>
                  </a:lnTo>
                  <a:lnTo>
                    <a:pt x="0" y="63512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9533735" y="3104008"/>
            <a:ext cx="7891359" cy="4466419"/>
            <a:chOff x="0" y="0"/>
            <a:chExt cx="10094976" cy="5713641"/>
          </a:xfrm>
        </p:grpSpPr>
        <p:sp>
          <p:nvSpPr>
            <p:cNvPr name="Freeform 16" id="16" descr="/mnt/data/09_branch_github.png"/>
            <p:cNvSpPr/>
            <p:nvPr/>
          </p:nvSpPr>
          <p:spPr>
            <a:xfrm flipH="false" flipV="false" rot="0">
              <a:off x="0" y="0"/>
              <a:ext cx="10094976" cy="5713603"/>
            </a:xfrm>
            <a:custGeom>
              <a:avLst/>
              <a:gdLst/>
              <a:ahLst/>
              <a:cxnLst/>
              <a:rect r="r" b="b" t="t" l="l"/>
              <a:pathLst>
                <a:path h="5713603" w="10094976">
                  <a:moveTo>
                    <a:pt x="0" y="0"/>
                  </a:moveTo>
                  <a:lnTo>
                    <a:pt x="10094976" y="0"/>
                  </a:lnTo>
                  <a:lnTo>
                    <a:pt x="10094976" y="5713603"/>
                  </a:lnTo>
                  <a:lnTo>
                    <a:pt x="0" y="57136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353434" y="8987581"/>
            <a:ext cx="4251960" cy="541437"/>
            <a:chOff x="0" y="0"/>
            <a:chExt cx="5669280" cy="72191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669280" cy="721916"/>
            </a:xfrm>
            <a:custGeom>
              <a:avLst/>
              <a:gdLst/>
              <a:ahLst/>
              <a:cxnLst/>
              <a:rect r="r" b="b" t="t" l="l"/>
              <a:pathLst>
                <a:path h="721916" w="5669280">
                  <a:moveTo>
                    <a:pt x="0" y="0"/>
                  </a:moveTo>
                  <a:lnTo>
                    <a:pt x="5669280" y="0"/>
                  </a:lnTo>
                  <a:lnTo>
                    <a:pt x="5669280" y="721916"/>
                  </a:lnTo>
                  <a:lnTo>
                    <a:pt x="0" y="721916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0218" r="0" b="-75817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5669280" cy="7314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b="true" sz="2000">
                  <a:solidFill>
                    <a:srgbClr val="1FB6C9"/>
                  </a:solidFill>
                  <a:latin typeface="Courier New Bold"/>
                  <a:ea typeface="Courier New Bold"/>
                  <a:cs typeface="Courier New Bold"/>
                  <a:sym typeface="Courier New Bold"/>
                </a:rPr>
                <a:t>alumno/mundaca-yonar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681478" y="8932368"/>
            <a:ext cx="4732020" cy="651864"/>
            <a:chOff x="0" y="0"/>
            <a:chExt cx="6309360" cy="8691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09360" cy="869152"/>
            </a:xfrm>
            <a:custGeom>
              <a:avLst/>
              <a:gdLst/>
              <a:ahLst/>
              <a:cxnLst/>
              <a:rect r="r" b="b" t="t" l="l"/>
              <a:pathLst>
                <a:path h="869152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869152"/>
                  </a:lnTo>
                  <a:lnTo>
                    <a:pt x="0" y="869152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5144" r="0" b="-6774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6309360" cy="8691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24"/>
                </a:lnSpc>
              </a:pPr>
              <a:r>
                <a:rPr lang="en-US" sz="1770" b="true">
                  <a:solidFill>
                    <a:srgbClr val="172033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4 commits de avance antes de la entrega final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-30666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10800000">
            <a:off x="13715455" y="-1081350"/>
            <a:ext cx="6057446" cy="5363593"/>
          </a:xfrm>
          <a:custGeom>
            <a:avLst/>
            <a:gdLst/>
            <a:ahLst/>
            <a:cxnLst/>
            <a:rect r="r" b="b" t="t" l="l"/>
            <a:pathLst>
              <a:path h="5363593" w="6057446">
                <a:moveTo>
                  <a:pt x="6057446" y="0"/>
                </a:moveTo>
                <a:lnTo>
                  <a:pt x="0" y="0"/>
                </a:lnTo>
                <a:lnTo>
                  <a:pt x="0" y="5363592"/>
                </a:lnTo>
                <a:lnTo>
                  <a:pt x="6057446" y="5363592"/>
                </a:lnTo>
                <a:lnTo>
                  <a:pt x="6057446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true" flipV="false" rot="0">
            <a:off x="-693005" y="5846708"/>
            <a:ext cx="6705712" cy="5937603"/>
          </a:xfrm>
          <a:custGeom>
            <a:avLst/>
            <a:gdLst/>
            <a:ahLst/>
            <a:cxnLst/>
            <a:rect r="r" b="b" t="t" l="l"/>
            <a:pathLst>
              <a:path h="5937603" w="6705712">
                <a:moveTo>
                  <a:pt x="6705712" y="0"/>
                </a:moveTo>
                <a:lnTo>
                  <a:pt x="0" y="0"/>
                </a:lnTo>
                <a:lnTo>
                  <a:pt x="0" y="5937603"/>
                </a:lnTo>
                <a:lnTo>
                  <a:pt x="6705712" y="5937603"/>
                </a:lnTo>
                <a:lnTo>
                  <a:pt x="6705712" y="0"/>
                </a:lnTo>
                <a:close/>
              </a:path>
            </a:pathLst>
          </a:custGeom>
          <a:blipFill>
            <a:blip r:embed="rId4">
              <a:alphaModFix amt="51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5" id="5"/>
          <p:cNvGrpSpPr/>
          <p:nvPr/>
        </p:nvGrpSpPr>
        <p:grpSpPr>
          <a:xfrm rot="0">
            <a:off x="877824" y="825005"/>
            <a:ext cx="7053166" cy="450583"/>
            <a:chOff x="0" y="0"/>
            <a:chExt cx="45539278" cy="290922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539279" cy="2909220"/>
            </a:xfrm>
            <a:custGeom>
              <a:avLst/>
              <a:gdLst/>
              <a:ahLst/>
              <a:cxnLst/>
              <a:rect r="r" b="b" t="t" l="l"/>
              <a:pathLst>
                <a:path h="2909220" w="45539279">
                  <a:moveTo>
                    <a:pt x="53932" y="2341212"/>
                  </a:moveTo>
                  <a:cubicBezTo>
                    <a:pt x="53932" y="2341212"/>
                    <a:pt x="-9098" y="2094648"/>
                    <a:pt x="1120" y="1208253"/>
                  </a:cubicBezTo>
                  <a:cubicBezTo>
                    <a:pt x="9553" y="984462"/>
                    <a:pt x="55935" y="638823"/>
                    <a:pt x="55935" y="638823"/>
                  </a:cubicBezTo>
                  <a:cubicBezTo>
                    <a:pt x="73135" y="495957"/>
                    <a:pt x="47587" y="331357"/>
                    <a:pt x="172287" y="217416"/>
                  </a:cubicBezTo>
                  <a:cubicBezTo>
                    <a:pt x="337696" y="66279"/>
                    <a:pt x="612545" y="-6509"/>
                    <a:pt x="44651439" y="456"/>
                  </a:cubicBezTo>
                  <a:cubicBezTo>
                    <a:pt x="44868185" y="10310"/>
                    <a:pt x="45072502" y="29972"/>
                    <a:pt x="45206689" y="95181"/>
                  </a:cubicBezTo>
                  <a:cubicBezTo>
                    <a:pt x="45462735" y="219611"/>
                    <a:pt x="45544510" y="452651"/>
                    <a:pt x="45539022" y="698175"/>
                  </a:cubicBezTo>
                  <a:cubicBezTo>
                    <a:pt x="45539022" y="698175"/>
                    <a:pt x="45495735" y="1006564"/>
                    <a:pt x="45503167" y="1242098"/>
                  </a:cubicBezTo>
                  <a:cubicBezTo>
                    <a:pt x="45510292" y="2083014"/>
                    <a:pt x="45517448" y="2278617"/>
                    <a:pt x="45517448" y="2278617"/>
                  </a:cubicBezTo>
                  <a:cubicBezTo>
                    <a:pt x="45500767" y="2494349"/>
                    <a:pt x="45386123" y="2704961"/>
                    <a:pt x="45189254" y="2816585"/>
                  </a:cubicBezTo>
                  <a:cubicBezTo>
                    <a:pt x="45038900" y="2901834"/>
                    <a:pt x="44840869" y="2916931"/>
                    <a:pt x="35697359" y="2906190"/>
                  </a:cubicBezTo>
                  <a:cubicBezTo>
                    <a:pt x="636854" y="2900913"/>
                    <a:pt x="375506" y="2934766"/>
                    <a:pt x="245180" y="2825608"/>
                  </a:cubicBezTo>
                  <a:cubicBezTo>
                    <a:pt x="136669" y="2734723"/>
                    <a:pt x="72697" y="2541411"/>
                    <a:pt x="53932" y="2341212"/>
                  </a:cubicBezTo>
                  <a:close/>
                </a:path>
              </a:pathLst>
            </a:custGeom>
            <a:solidFill>
              <a:srgbClr val="45B5CC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850392" y="576072"/>
            <a:ext cx="13235940" cy="822803"/>
            <a:chOff x="0" y="0"/>
            <a:chExt cx="17647920" cy="109707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7647920" cy="1097071"/>
            </a:xfrm>
            <a:custGeom>
              <a:avLst/>
              <a:gdLst/>
              <a:ahLst/>
              <a:cxnLst/>
              <a:rect r="r" b="b" t="t" l="l"/>
              <a:pathLst>
                <a:path h="1097071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1097071"/>
                  </a:lnTo>
                  <a:lnTo>
                    <a:pt x="0" y="109707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76770" r="0" b="-250117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17647920" cy="11637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just" marL="0" indent="0" lvl="0">
                <a:lnSpc>
                  <a:spcPts val="5260"/>
                </a:lnSpc>
                <a:spcBef>
                  <a:spcPct val="0"/>
                </a:spcBef>
              </a:pPr>
              <a:r>
                <a:rPr lang="en-US" b="true" sz="3757" spc="48" strike="noStrike" u="none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Resultado final y conclusiones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77824" y="1275588"/>
            <a:ext cx="13235940" cy="387553"/>
            <a:chOff x="0" y="0"/>
            <a:chExt cx="17647920" cy="5167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647920" cy="516738"/>
            </a:xfrm>
            <a:custGeom>
              <a:avLst/>
              <a:gdLst/>
              <a:ahLst/>
              <a:cxnLst/>
              <a:rect r="r" b="b" t="t" l="l"/>
              <a:pathLst>
                <a:path h="516738" w="17647920">
                  <a:moveTo>
                    <a:pt x="0" y="0"/>
                  </a:moveTo>
                  <a:lnTo>
                    <a:pt x="17647920" y="0"/>
                  </a:lnTo>
                  <a:lnTo>
                    <a:pt x="17647920" y="516738"/>
                  </a:lnTo>
                  <a:lnTo>
                    <a:pt x="0" y="5167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615916" r="0" b="-61501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7647920" cy="5738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0" indent="0" lvl="0">
                <a:lnSpc>
                  <a:spcPts val="2682"/>
                </a:lnSpc>
                <a:spcBef>
                  <a:spcPct val="0"/>
                </a:spcBef>
              </a:pPr>
              <a:r>
                <a:rPr lang="en-US" sz="1800" spc="127" strike="noStrike" u="none">
                  <a:solidFill>
                    <a:srgbClr val="1B2836"/>
                  </a:solidFill>
                  <a:latin typeface="Roca One"/>
                  <a:ea typeface="Roca One"/>
                  <a:cs typeface="Roca One"/>
                  <a:sym typeface="Roca One"/>
                </a:rPr>
                <a:t>El laboratorio demuestra una secuencia completa: diseño, modificación, operación, auditoría y versionado.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24915" y="2653665"/>
            <a:ext cx="403098" cy="403098"/>
            <a:chOff x="0" y="0"/>
            <a:chExt cx="537464" cy="53746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1261872" y="2663190"/>
            <a:ext cx="329184" cy="411242"/>
            <a:chOff x="0" y="0"/>
            <a:chExt cx="438912" cy="54832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38912" cy="548323"/>
            </a:xfrm>
            <a:custGeom>
              <a:avLst/>
              <a:gdLst/>
              <a:ahLst/>
              <a:cxnLst/>
              <a:rect r="r" b="b" t="t" l="l"/>
              <a:pathLst>
                <a:path h="54832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48323"/>
                  </a:lnTo>
                  <a:lnTo>
                    <a:pt x="0" y="54832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1995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438912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✓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810512" y="2635758"/>
            <a:ext cx="3566160" cy="427794"/>
            <a:chOff x="0" y="0"/>
            <a:chExt cx="4754880" cy="57039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54880" cy="570393"/>
            </a:xfrm>
            <a:custGeom>
              <a:avLst/>
              <a:gdLst/>
              <a:ahLst/>
              <a:cxnLst/>
              <a:rect r="r" b="b" t="t" l="l"/>
              <a:pathLst>
                <a:path h="57039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37" r="0" b="-110523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475488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Base y 3 tablas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24915" y="3586353"/>
            <a:ext cx="403098" cy="403098"/>
            <a:chOff x="0" y="0"/>
            <a:chExt cx="537464" cy="5374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61872" y="3595878"/>
            <a:ext cx="329184" cy="411242"/>
            <a:chOff x="0" y="0"/>
            <a:chExt cx="438912" cy="54832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38912" cy="548323"/>
            </a:xfrm>
            <a:custGeom>
              <a:avLst/>
              <a:gdLst/>
              <a:ahLst/>
              <a:cxnLst/>
              <a:rect r="r" b="b" t="t" l="l"/>
              <a:pathLst>
                <a:path h="54832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48323"/>
                  </a:lnTo>
                  <a:lnTo>
                    <a:pt x="0" y="54832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1995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438912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810512" y="3568446"/>
            <a:ext cx="3566160" cy="427794"/>
            <a:chOff x="0" y="0"/>
            <a:chExt cx="4754880" cy="57039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4880" cy="570393"/>
            </a:xfrm>
            <a:custGeom>
              <a:avLst/>
              <a:gdLst/>
              <a:ahLst/>
              <a:cxnLst/>
              <a:rect r="r" b="b" t="t" l="l"/>
              <a:pathLst>
                <a:path h="57039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37" r="0" b="-11052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75488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IDENTITY(1,1)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24915" y="4519041"/>
            <a:ext cx="403098" cy="403098"/>
            <a:chOff x="0" y="0"/>
            <a:chExt cx="537464" cy="5374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1261872" y="4528566"/>
            <a:ext cx="329184" cy="411242"/>
            <a:chOff x="0" y="0"/>
            <a:chExt cx="438912" cy="54832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38912" cy="548323"/>
            </a:xfrm>
            <a:custGeom>
              <a:avLst/>
              <a:gdLst/>
              <a:ahLst/>
              <a:cxnLst/>
              <a:rect r="r" b="b" t="t" l="l"/>
              <a:pathLst>
                <a:path h="54832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48323"/>
                  </a:lnTo>
                  <a:lnTo>
                    <a:pt x="0" y="54832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1995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438912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✓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810512" y="4501134"/>
            <a:ext cx="3566160" cy="427794"/>
            <a:chOff x="0" y="0"/>
            <a:chExt cx="4754880" cy="570393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754880" cy="570393"/>
            </a:xfrm>
            <a:custGeom>
              <a:avLst/>
              <a:gdLst/>
              <a:ahLst/>
              <a:cxnLst/>
              <a:rect r="r" b="b" t="t" l="l"/>
              <a:pathLst>
                <a:path h="57039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37" r="0" b="-11052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475488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ALTER TABLE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24915" y="5451729"/>
            <a:ext cx="403098" cy="403098"/>
            <a:chOff x="0" y="0"/>
            <a:chExt cx="537464" cy="53746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261872" y="5461254"/>
            <a:ext cx="329184" cy="411242"/>
            <a:chOff x="0" y="0"/>
            <a:chExt cx="438912" cy="54832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38912" cy="548323"/>
            </a:xfrm>
            <a:custGeom>
              <a:avLst/>
              <a:gdLst/>
              <a:ahLst/>
              <a:cxnLst/>
              <a:rect r="r" b="b" t="t" l="l"/>
              <a:pathLst>
                <a:path h="54832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48323"/>
                  </a:lnTo>
                  <a:lnTo>
                    <a:pt x="0" y="54832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19953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438912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✓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810512" y="5433822"/>
            <a:ext cx="3566160" cy="427794"/>
            <a:chOff x="0" y="0"/>
            <a:chExt cx="4754880" cy="57039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754880" cy="570393"/>
            </a:xfrm>
            <a:custGeom>
              <a:avLst/>
              <a:gdLst/>
              <a:ahLst/>
              <a:cxnLst/>
              <a:rect r="r" b="b" t="t" l="l"/>
              <a:pathLst>
                <a:path h="57039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37" r="0" b="-110523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475488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INSERT / SELECT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5682615" y="2653665"/>
            <a:ext cx="403098" cy="403098"/>
            <a:chOff x="0" y="0"/>
            <a:chExt cx="537464" cy="5374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5719572" y="2663190"/>
            <a:ext cx="329184" cy="411242"/>
            <a:chOff x="0" y="0"/>
            <a:chExt cx="438912" cy="54832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38912" cy="548323"/>
            </a:xfrm>
            <a:custGeom>
              <a:avLst/>
              <a:gdLst/>
              <a:ahLst/>
              <a:cxnLst/>
              <a:rect r="r" b="b" t="t" l="l"/>
              <a:pathLst>
                <a:path h="54832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48323"/>
                  </a:lnTo>
                  <a:lnTo>
                    <a:pt x="0" y="54832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19953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438912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✓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268212" y="2635758"/>
            <a:ext cx="3566160" cy="427794"/>
            <a:chOff x="0" y="0"/>
            <a:chExt cx="4754880" cy="57039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54880" cy="570393"/>
            </a:xfrm>
            <a:custGeom>
              <a:avLst/>
              <a:gdLst/>
              <a:ahLst/>
              <a:cxnLst/>
              <a:rect r="r" b="b" t="t" l="l"/>
              <a:pathLst>
                <a:path h="57039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37" r="0" b="-11052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0"/>
              <a:ext cx="475488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UPDATE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5682615" y="3586353"/>
            <a:ext cx="403098" cy="403098"/>
            <a:chOff x="0" y="0"/>
            <a:chExt cx="537464" cy="537464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719572" y="3595878"/>
            <a:ext cx="329184" cy="411242"/>
            <a:chOff x="0" y="0"/>
            <a:chExt cx="438912" cy="54832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438912" cy="548323"/>
            </a:xfrm>
            <a:custGeom>
              <a:avLst/>
              <a:gdLst/>
              <a:ahLst/>
              <a:cxnLst/>
              <a:rect r="r" b="b" t="t" l="l"/>
              <a:pathLst>
                <a:path h="54832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48323"/>
                  </a:lnTo>
                  <a:lnTo>
                    <a:pt x="0" y="54832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19953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438912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✓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6268212" y="3568446"/>
            <a:ext cx="3566160" cy="427794"/>
            <a:chOff x="0" y="0"/>
            <a:chExt cx="4754880" cy="570393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4754880" cy="570393"/>
            </a:xfrm>
            <a:custGeom>
              <a:avLst/>
              <a:gdLst/>
              <a:ahLst/>
              <a:cxnLst/>
              <a:rect r="r" b="b" t="t" l="l"/>
              <a:pathLst>
                <a:path h="57039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37" r="0" b="-110523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475488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Borrado lógico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5682615" y="4519041"/>
            <a:ext cx="403098" cy="403098"/>
            <a:chOff x="0" y="0"/>
            <a:chExt cx="537464" cy="53746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5719572" y="4528566"/>
            <a:ext cx="329184" cy="411242"/>
            <a:chOff x="0" y="0"/>
            <a:chExt cx="438912" cy="54832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438912" cy="548323"/>
            </a:xfrm>
            <a:custGeom>
              <a:avLst/>
              <a:gdLst/>
              <a:ahLst/>
              <a:cxnLst/>
              <a:rect r="r" b="b" t="t" l="l"/>
              <a:pathLst>
                <a:path h="54832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48323"/>
                  </a:lnTo>
                  <a:lnTo>
                    <a:pt x="0" y="54832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19953"/>
              </a:stretch>
            </a:blip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438912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✓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6268212" y="4501134"/>
            <a:ext cx="3566160" cy="427794"/>
            <a:chOff x="0" y="0"/>
            <a:chExt cx="4754880" cy="570393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4754880" cy="570393"/>
            </a:xfrm>
            <a:custGeom>
              <a:avLst/>
              <a:gdLst/>
              <a:ahLst/>
              <a:cxnLst/>
              <a:rect r="r" b="b" t="t" l="l"/>
              <a:pathLst>
                <a:path h="57039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37" r="0" b="-110523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0"/>
              <a:ext cx="475488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DELETE físico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5682615" y="5451729"/>
            <a:ext cx="403098" cy="403098"/>
            <a:chOff x="0" y="0"/>
            <a:chExt cx="537464" cy="53746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7464" cy="537464"/>
            </a:xfrm>
            <a:custGeom>
              <a:avLst/>
              <a:gdLst/>
              <a:ahLst/>
              <a:cxnLst/>
              <a:rect r="r" b="b" t="t" l="l"/>
              <a:pathLst>
                <a:path h="537464" w="537464">
                  <a:moveTo>
                    <a:pt x="0" y="268732"/>
                  </a:moveTo>
                  <a:cubicBezTo>
                    <a:pt x="0" y="120269"/>
                    <a:pt x="120269" y="0"/>
                    <a:pt x="268732" y="0"/>
                  </a:cubicBezTo>
                  <a:cubicBezTo>
                    <a:pt x="417195" y="0"/>
                    <a:pt x="537464" y="120269"/>
                    <a:pt x="537464" y="268732"/>
                  </a:cubicBezTo>
                  <a:cubicBezTo>
                    <a:pt x="537464" y="417195"/>
                    <a:pt x="417195" y="537464"/>
                    <a:pt x="268732" y="537464"/>
                  </a:cubicBezTo>
                  <a:cubicBezTo>
                    <a:pt x="120269" y="537464"/>
                    <a:pt x="0" y="417195"/>
                    <a:pt x="0" y="268732"/>
                  </a:cubicBezTo>
                  <a:close/>
                </a:path>
              </a:pathLst>
            </a:custGeom>
            <a:solidFill>
              <a:srgbClr val="16A34A"/>
            </a:solidFill>
            <a:ln w="19050" cap="sq">
              <a:solidFill>
                <a:srgbClr val="16A34A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5719572" y="5461254"/>
            <a:ext cx="329184" cy="411242"/>
            <a:chOff x="0" y="0"/>
            <a:chExt cx="438912" cy="548322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38912" cy="548323"/>
            </a:xfrm>
            <a:custGeom>
              <a:avLst/>
              <a:gdLst/>
              <a:ahLst/>
              <a:cxnLst/>
              <a:rect r="r" b="b" t="t" l="l"/>
              <a:pathLst>
                <a:path h="548323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548323"/>
                  </a:lnTo>
                  <a:lnTo>
                    <a:pt x="0" y="54832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78303" t="0" r="-78303" b="19953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0"/>
              <a:ext cx="438912" cy="54832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50"/>
                </a:lnSpc>
              </a:pPr>
              <a:r>
                <a:rPr lang="en-US" sz="1875" b="true">
                  <a:solidFill>
                    <a:srgbClr val="FFFFFF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✓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6268212" y="5433822"/>
            <a:ext cx="3566160" cy="427794"/>
            <a:chOff x="0" y="0"/>
            <a:chExt cx="4754880" cy="570393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4754880" cy="570393"/>
            </a:xfrm>
            <a:custGeom>
              <a:avLst/>
              <a:gdLst/>
              <a:ahLst/>
              <a:cxnLst/>
              <a:rect r="r" b="b" t="t" l="l"/>
              <a:pathLst>
                <a:path h="570393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70393"/>
                  </a:lnTo>
                  <a:lnTo>
                    <a:pt x="0" y="570393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14337" r="0" b="-110523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4754880" cy="57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75"/>
                </a:lnSpc>
              </a:pPr>
              <a:r>
                <a:rPr lang="en-US" sz="1979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Evidencias y GitHub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0835640" y="2578608"/>
            <a:ext cx="5349240" cy="604828"/>
            <a:chOff x="0" y="0"/>
            <a:chExt cx="7132320" cy="806437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132320" cy="806437"/>
            </a:xfrm>
            <a:custGeom>
              <a:avLst/>
              <a:gdLst/>
              <a:ahLst/>
              <a:cxnLst/>
              <a:rect r="r" b="b" t="t" l="l"/>
              <a:pathLst>
                <a:path h="806437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806437"/>
                  </a:lnTo>
                  <a:lnTo>
                    <a:pt x="0" y="806437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136046" r="0" b="-10861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7132320" cy="8064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29"/>
                </a:lnSpc>
              </a:pPr>
              <a:r>
                <a:rPr lang="en-US" b="true" sz="2775">
                  <a:solidFill>
                    <a:srgbClr val="000000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3 aprendizajes clave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835640" y="3401568"/>
            <a:ext cx="480060" cy="454876"/>
            <a:chOff x="0" y="0"/>
            <a:chExt cx="640080" cy="60650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640080" cy="606501"/>
            </a:xfrm>
            <a:custGeom>
              <a:avLst/>
              <a:gdLst/>
              <a:ahLst/>
              <a:cxnLst/>
              <a:rect r="r" b="b" t="t" l="l"/>
              <a:pathLst>
                <a:path h="606501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06501"/>
                  </a:lnTo>
                  <a:lnTo>
                    <a:pt x="0" y="6065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42" t="0" r="-52642" b="1557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640080" cy="606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1FB6C9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1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452860" y="3346704"/>
            <a:ext cx="4869180" cy="675934"/>
            <a:chOff x="0" y="0"/>
            <a:chExt cx="6492240" cy="901245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6492240" cy="901245"/>
            </a:xfrm>
            <a:custGeom>
              <a:avLst/>
              <a:gdLst/>
              <a:ahLst/>
              <a:cxnLst/>
              <a:rect r="r" b="b" t="t" l="l"/>
              <a:pathLst>
                <a:path h="901245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01245"/>
                  </a:lnTo>
                  <a:lnTo>
                    <a:pt x="0" y="9012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691" r="0" b="-87034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6492240" cy="90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IDENTITY y DEFAULT automatizan tareas repetitivas y reducen errores.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0835640" y="4334256"/>
            <a:ext cx="480060" cy="454876"/>
            <a:chOff x="0" y="0"/>
            <a:chExt cx="640080" cy="606501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640080" cy="606501"/>
            </a:xfrm>
            <a:custGeom>
              <a:avLst/>
              <a:gdLst/>
              <a:ahLst/>
              <a:cxnLst/>
              <a:rect r="r" b="b" t="t" l="l"/>
              <a:pathLst>
                <a:path h="606501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06501"/>
                  </a:lnTo>
                  <a:lnTo>
                    <a:pt x="0" y="6065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42" t="0" r="-52642" b="1557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0"/>
              <a:ext cx="640080" cy="606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1FB6C9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2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452860" y="4279392"/>
            <a:ext cx="4869180" cy="675934"/>
            <a:chOff x="0" y="0"/>
            <a:chExt cx="6492240" cy="901245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6492240" cy="901245"/>
            </a:xfrm>
            <a:custGeom>
              <a:avLst/>
              <a:gdLst/>
              <a:ahLst/>
              <a:cxnLst/>
              <a:rect r="r" b="b" t="t" l="l"/>
              <a:pathLst>
                <a:path h="901245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01245"/>
                  </a:lnTo>
                  <a:lnTo>
                    <a:pt x="0" y="9012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691" r="0" b="-8703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6492240" cy="90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Los campos de auditoría permiten rastrear creación, modificación y desactivación.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0835640" y="5266944"/>
            <a:ext cx="480060" cy="454876"/>
            <a:chOff x="0" y="0"/>
            <a:chExt cx="640080" cy="60650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640080" cy="606501"/>
            </a:xfrm>
            <a:custGeom>
              <a:avLst/>
              <a:gdLst/>
              <a:ahLst/>
              <a:cxnLst/>
              <a:rect r="r" b="b" t="t" l="l"/>
              <a:pathLst>
                <a:path h="606501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606501"/>
                  </a:lnTo>
                  <a:lnTo>
                    <a:pt x="0" y="6065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-52642" t="0" r="-52642" b="1557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0"/>
              <a:ext cx="640080" cy="60650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b="true" sz="2100">
                  <a:solidFill>
                    <a:srgbClr val="1FB6C9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3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452860" y="5212080"/>
            <a:ext cx="4869180" cy="675934"/>
            <a:chOff x="0" y="0"/>
            <a:chExt cx="6492240" cy="901245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6492240" cy="901245"/>
            </a:xfrm>
            <a:custGeom>
              <a:avLst/>
              <a:gdLst/>
              <a:ahLst/>
              <a:cxnLst/>
              <a:rect r="r" b="b" t="t" l="l"/>
              <a:pathLst>
                <a:path h="901245" w="6492240">
                  <a:moveTo>
                    <a:pt x="0" y="0"/>
                  </a:moveTo>
                  <a:lnTo>
                    <a:pt x="6492240" y="0"/>
                  </a:lnTo>
                  <a:lnTo>
                    <a:pt x="6492240" y="901245"/>
                  </a:lnTo>
                  <a:lnTo>
                    <a:pt x="0" y="901245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93691" r="0" b="-8703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6492240" cy="9012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>
                  <a:solidFill>
                    <a:srgbClr val="000000"/>
                  </a:solidFill>
                  <a:latin typeface="Roca One"/>
                  <a:ea typeface="Roca One"/>
                  <a:cs typeface="Roca One"/>
                  <a:sym typeface="Roca One"/>
                </a:rPr>
                <a:t>Git/GitHub documenta la evolución del trabajo y mantiene los avances separados.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36192" y="7351776"/>
            <a:ext cx="1851660" cy="469421"/>
            <a:chOff x="0" y="0"/>
            <a:chExt cx="2468880" cy="62589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468880" cy="625894"/>
            </a:xfrm>
            <a:custGeom>
              <a:avLst/>
              <a:gdLst/>
              <a:ahLst/>
              <a:cxnLst/>
              <a:rect r="r" b="b" t="t" l="l"/>
              <a:pathLst>
                <a:path h="625894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625894"/>
                  </a:lnTo>
                  <a:lnTo>
                    <a:pt x="0" y="62589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5953" r="0" b="-1776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2468880" cy="6354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10"/>
                </a:lnSpc>
              </a:pPr>
              <a:r>
                <a:rPr lang="en-US" b="true" sz="2175">
                  <a:solidFill>
                    <a:srgbClr val="111827"/>
                  </a:solidFill>
                  <a:latin typeface="Roca One Bold"/>
                  <a:ea typeface="Roca One Bold"/>
                  <a:cs typeface="Roca One Bold"/>
                  <a:sym typeface="Roca One Bold"/>
                </a:rPr>
                <a:t>Conclusión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3566160" y="7214616"/>
            <a:ext cx="12618720" cy="722065"/>
            <a:chOff x="0" y="0"/>
            <a:chExt cx="16824960" cy="96275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6824961" cy="962754"/>
            </a:xfrm>
            <a:custGeom>
              <a:avLst/>
              <a:gdLst/>
              <a:ahLst/>
              <a:cxnLst/>
              <a:rect r="r" b="b" t="t" l="l"/>
              <a:pathLst>
                <a:path h="962754" w="16824961">
                  <a:moveTo>
                    <a:pt x="0" y="0"/>
                  </a:moveTo>
                  <a:lnTo>
                    <a:pt x="16824961" y="0"/>
                  </a:lnTo>
                  <a:lnTo>
                    <a:pt x="16824961" y="962754"/>
                  </a:lnTo>
                  <a:lnTo>
                    <a:pt x="0" y="962754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94928" r="0" b="-286107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6824960" cy="96275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8"/>
                </a:lnSpc>
              </a:pPr>
              <a:r>
                <a:rPr lang="en-US" sz="1964">
                  <a:solidFill>
                    <a:srgbClr val="172033"/>
                  </a:solidFill>
                  <a:latin typeface="Roca One"/>
                  <a:ea typeface="Roca One"/>
                  <a:cs typeface="Roca One"/>
                  <a:sym typeface="Roca One"/>
                </a:rPr>
                <a:t>El laboratorio permitió aplicar operaciones esenciales de SQL Server y demostrar, mediante evidencias y commits, un proceso de trabajo ordenado, verificable y reproducible.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DAHWWsYcox0</dc:identifier>
  <dcterms:modified xsi:type="dcterms:W3CDTF">2011-08-01T06:04:30Z</dcterms:modified>
  <cp:revision>1</cp:revision>
  <dc:title>SQL Server + Git-GitHub, Base de Datos</dc:title>
</cp:coreProperties>
</file>